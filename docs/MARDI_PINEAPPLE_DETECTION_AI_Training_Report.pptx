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9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6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23.png" ContentType="image/png"/>
  <Override PartName="/ppt/media/image4.png" ContentType="image/png"/>
  <Override PartName="/ppt/media/image27.png" ContentType="image/png"/>
  <Override PartName="/ppt/media/image28.png" ContentType="image/png"/>
  <Override PartName="/ppt/media/image5.png" ContentType="image/png"/>
  <Override PartName="/ppt/media/image30.png" ContentType="image/png"/>
  <Override PartName="/ppt/media/image10.png" ContentType="image/png"/>
  <Override PartName="/ppt/media/image29.png" ContentType="image/png"/>
  <Override PartName="/ppt/media/image6.png" ContentType="image/png"/>
  <Override PartName="/ppt/media/image11.png" ContentType="image/png"/>
  <Override PartName="/ppt/media/image7.png" ContentType="image/png"/>
  <Override PartName="/ppt/media/image12.png" ContentType="image/png"/>
  <Override PartName="/ppt/media/image8.png" ContentType="image/png"/>
  <Override PartName="/ppt/media/image13.png" ContentType="image/png"/>
  <Override PartName="/ppt/media/image9.png" ContentType="image/png"/>
  <Override PartName="/ppt/media/image3.png" ContentType="image/png"/>
  <Override PartName="/ppt/media/image26.png" ContentType="image/png"/>
  <Override PartName="/ppt/media/image2.png" ContentType="image/png"/>
  <Override PartName="/ppt/media/image25.png" ContentType="image/png"/>
  <Override PartName="/ppt/media/image1.png" ContentType="image/png"/>
  <Override PartName="/ppt/media/image24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20.png" ContentType="image/png"/>
  <Override PartName="/ppt/media/image19.png" ContentType="image/png"/>
  <Override PartName="/ppt/media/image21.png" ContentType="image/png"/>
  <Override PartName="/ppt/media/image22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ptos"/>
              </a:rPr>
              <a:t>Click to move the slide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9D956228-0661-43B1-83F5-BBD7F6138832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CFCB9DF-8098-4970-B61A-C3E80F724B81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12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0B18C3D-4514-4E46-9239-C886633FFB9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12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04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E87C6EC-77DF-4ADB-9D7D-1373D476E380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12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CB535A0-1415-4FDA-9BDF-D059AE6B2F7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12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72EAE0E-51FC-4848-B864-CF593D31BBA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12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007D7A8-BC89-4411-A776-94026EED483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12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16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C1F8A22-7B87-433F-98D9-0CFB136BD24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12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E9C396E-5D2F-4DA5-9AAE-9ABD5ACE96B1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12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40BAE5F-A832-4CA0-BE1F-754F2B9F607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12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30E627D-D5ED-4F47-B86F-356EB89E334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12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E7EF27A-D886-4AF9-B0ED-309B7EE7DC2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12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497BA25-8392-43D5-8A65-1DDBC6ABA1A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12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34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E0232D4-167E-4B91-B7C1-DAC028F7A55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08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ptos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ptos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pto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ptos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Apto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ptos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Apto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ptos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pto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ptos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pto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ptos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pto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ptos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image" Target="../media/image28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Image 0" descr="/mnt/data/mardi_assets/bg_title_clean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  <p:sp>
        <p:nvSpPr>
          <p:cNvPr id="45" name="Text 0"/>
          <p:cNvSpPr/>
          <p:nvPr/>
        </p:nvSpPr>
        <p:spPr>
          <a:xfrm>
            <a:off x="502920" y="3620880"/>
            <a:ext cx="5760360" cy="8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87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900" spc="-1" strike="noStrike">
                <a:solidFill>
                  <a:srgbClr val="e51b2b"/>
                </a:solidFill>
                <a:latin typeface="Aptos Display"/>
                <a:ea typeface="Aptos Display"/>
              </a:rPr>
              <a:t>MARDI PINEAPPLE</a:t>
            </a:r>
            <a:endParaRPr b="0" lang="en-US" sz="2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900" spc="-1" strike="noStrike">
                <a:solidFill>
                  <a:srgbClr val="e51b2b"/>
                </a:solidFill>
                <a:latin typeface="Aptos Display"/>
                <a:ea typeface="Aptos Display"/>
              </a:rPr>
              <a:t>DETECTION AI (Training Report)</a:t>
            </a:r>
            <a:endParaRPr b="0" lang="en-US" sz="2900" spc="-1" strike="noStrike">
              <a:latin typeface="Arial"/>
            </a:endParaRPr>
          </a:p>
        </p:txBody>
      </p:sp>
      <p:sp>
        <p:nvSpPr>
          <p:cNvPr id="46" name="Text 1"/>
          <p:cNvSpPr/>
          <p:nvPr/>
        </p:nvSpPr>
        <p:spPr>
          <a:xfrm>
            <a:off x="530280" y="4581000"/>
            <a:ext cx="47545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333333"/>
                </a:solidFill>
                <a:latin typeface="Aptos"/>
              </a:rPr>
              <a:t>Model Training &amp; Evaluation Report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47" name="Text 2"/>
          <p:cNvSpPr/>
          <p:nvPr/>
        </p:nvSpPr>
        <p:spPr>
          <a:xfrm>
            <a:off x="530280" y="4946760"/>
            <a:ext cx="3382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777777"/>
                </a:solidFill>
                <a:latin typeface="Aptos"/>
              </a:rPr>
              <a:t>Prepared 13 August 2026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Image 0" descr="/mnt/data/mardi_assets/bg_content_clean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  <p:sp>
        <p:nvSpPr>
          <p:cNvPr id="49" name="Text 0"/>
          <p:cNvSpPr/>
          <p:nvPr/>
        </p:nvSpPr>
        <p:spPr>
          <a:xfrm>
            <a:off x="438840" y="109800"/>
            <a:ext cx="3017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780" spc="-1" strike="noStrike">
                <a:solidFill>
                  <a:srgbClr val="e51b2b"/>
                </a:solidFill>
                <a:latin typeface="Aptos"/>
                <a:ea typeface="Aptos"/>
              </a:rPr>
              <a:t>MARDI PINEAPPLE DETECTION AI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50" name="Text 1"/>
          <p:cNvSpPr/>
          <p:nvPr/>
        </p:nvSpPr>
        <p:spPr>
          <a:xfrm>
            <a:off x="11292840" y="650124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50" spc="-1" strike="noStrike">
                <a:solidFill>
                  <a:srgbClr val="a0a0a0"/>
                </a:solidFill>
                <a:latin typeface="Aptos"/>
              </a:rPr>
              <a:t>‹</a:t>
            </a:r>
            <a:r>
              <a:rPr b="0" lang="en-US" sz="750" spc="-1" strike="noStrike">
                <a:solidFill>
                  <a:srgbClr val="a0a0a0"/>
                </a:solidFill>
                <a:latin typeface="Aptos"/>
              </a:rPr>
              <a:t>2›</a:t>
            </a:r>
            <a:endParaRPr b="0" lang="en-US" sz="750" spc="-1" strike="noStrike">
              <a:latin typeface="Arial"/>
            </a:endParaRPr>
          </a:p>
        </p:txBody>
      </p:sp>
      <p:sp>
        <p:nvSpPr>
          <p:cNvPr id="51" name="Text 2"/>
          <p:cNvSpPr/>
          <p:nvPr/>
        </p:nvSpPr>
        <p:spPr>
          <a:xfrm>
            <a:off x="530280" y="502920"/>
            <a:ext cx="89607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e51b2b"/>
                </a:solidFill>
                <a:latin typeface="Aptos Display"/>
                <a:ea typeface="Aptos Display"/>
              </a:rPr>
              <a:t>Executive Snapshot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52" name="Text 3"/>
          <p:cNvSpPr/>
          <p:nvPr/>
        </p:nvSpPr>
        <p:spPr>
          <a:xfrm>
            <a:off x="548640" y="969120"/>
            <a:ext cx="8960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50" spc="-1" strike="noStrike">
                <a:solidFill>
                  <a:srgbClr val="333333"/>
                </a:solidFill>
                <a:latin typeface="Aptos"/>
              </a:rPr>
              <a:t>Combined training report summary for pineapple detection model selection.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53" name="Text 4"/>
          <p:cNvSpPr/>
          <p:nvPr/>
        </p:nvSpPr>
        <p:spPr>
          <a:xfrm>
            <a:off x="685800" y="1508760"/>
            <a:ext cx="19198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300" spc="-1" strike="noStrike">
                <a:solidFill>
                  <a:srgbClr val="e51b2b"/>
                </a:solidFill>
                <a:latin typeface="Aptos Display"/>
                <a:ea typeface="Aptos Display"/>
              </a:rPr>
              <a:t>8</a:t>
            </a:r>
            <a:endParaRPr b="0" lang="en-US" sz="3300" spc="-1" strike="noStrike">
              <a:latin typeface="Arial"/>
            </a:endParaRPr>
          </a:p>
        </p:txBody>
      </p:sp>
      <p:sp>
        <p:nvSpPr>
          <p:cNvPr id="54" name="Text 5"/>
          <p:cNvSpPr/>
          <p:nvPr/>
        </p:nvSpPr>
        <p:spPr>
          <a:xfrm>
            <a:off x="685800" y="2075760"/>
            <a:ext cx="1919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333333"/>
                </a:solidFill>
                <a:latin typeface="Aptos"/>
              </a:rPr>
              <a:t>model training reports combined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55" name="Text 6"/>
          <p:cNvSpPr/>
          <p:nvPr/>
        </p:nvSpPr>
        <p:spPr>
          <a:xfrm>
            <a:off x="2834640" y="1508760"/>
            <a:ext cx="19198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300" spc="-1" strike="noStrike">
                <a:solidFill>
                  <a:srgbClr val="184d44"/>
                </a:solidFill>
                <a:latin typeface="Aptos Display"/>
                <a:ea typeface="Aptos Display"/>
              </a:rPr>
              <a:t>2</a:t>
            </a:r>
            <a:endParaRPr b="0" lang="en-US" sz="3300" spc="-1" strike="noStrike">
              <a:latin typeface="Arial"/>
            </a:endParaRPr>
          </a:p>
        </p:txBody>
      </p:sp>
      <p:sp>
        <p:nvSpPr>
          <p:cNvPr id="56" name="Text 7"/>
          <p:cNvSpPr/>
          <p:nvPr/>
        </p:nvSpPr>
        <p:spPr>
          <a:xfrm>
            <a:off x="2834640" y="2075760"/>
            <a:ext cx="1919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333333"/>
                </a:solidFill>
                <a:latin typeface="Aptos"/>
              </a:rPr>
              <a:t>training phases evaluated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57" name="Text 8"/>
          <p:cNvSpPr/>
          <p:nvPr/>
        </p:nvSpPr>
        <p:spPr>
          <a:xfrm>
            <a:off x="4983480" y="1508760"/>
            <a:ext cx="19198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300" spc="-1" strike="noStrike">
                <a:solidFill>
                  <a:srgbClr val="e51b2b"/>
                </a:solidFill>
                <a:latin typeface="Aptos Display"/>
                <a:ea typeface="Aptos Display"/>
              </a:rPr>
              <a:t>3</a:t>
            </a:r>
            <a:endParaRPr b="0" lang="en-US" sz="3300" spc="-1" strike="noStrike">
              <a:latin typeface="Arial"/>
            </a:endParaRPr>
          </a:p>
        </p:txBody>
      </p:sp>
      <p:sp>
        <p:nvSpPr>
          <p:cNvPr id="58" name="Text 9"/>
          <p:cNvSpPr/>
          <p:nvPr/>
        </p:nvSpPr>
        <p:spPr>
          <a:xfrm>
            <a:off x="4983480" y="2075760"/>
            <a:ext cx="1919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333333"/>
                </a:solidFill>
                <a:latin typeface="Aptos"/>
              </a:rPr>
              <a:t>target classes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59" name="Text 10"/>
          <p:cNvSpPr/>
          <p:nvPr/>
        </p:nvSpPr>
        <p:spPr>
          <a:xfrm>
            <a:off x="7132320" y="1508760"/>
            <a:ext cx="21942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300" spc="-1" strike="noStrike">
                <a:solidFill>
                  <a:srgbClr val="184d44"/>
                </a:solidFill>
                <a:latin typeface="Aptos Display"/>
                <a:ea typeface="Aptos Display"/>
              </a:rPr>
              <a:t>0.9046</a:t>
            </a:r>
            <a:endParaRPr b="0" lang="en-US" sz="3300" spc="-1" strike="noStrike">
              <a:latin typeface="Arial"/>
            </a:endParaRPr>
          </a:p>
        </p:txBody>
      </p:sp>
      <p:sp>
        <p:nvSpPr>
          <p:cNvPr id="60" name="Text 11"/>
          <p:cNvSpPr/>
          <p:nvPr/>
        </p:nvSpPr>
        <p:spPr>
          <a:xfrm>
            <a:off x="7132320" y="2075760"/>
            <a:ext cx="21942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333333"/>
                </a:solidFill>
                <a:latin typeface="Aptos"/>
              </a:rPr>
              <a:t>best Phase 2 mAP50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61" name="Text 12"/>
          <p:cNvSpPr/>
          <p:nvPr/>
        </p:nvSpPr>
        <p:spPr>
          <a:xfrm>
            <a:off x="713160" y="2816280"/>
            <a:ext cx="74062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 fontScale="86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16473f"/>
                </a:solidFill>
                <a:latin typeface="Aptos"/>
                <a:ea typeface="Aptos"/>
              </a:rPr>
              <a:t>Recommended candidate for next field validation: RF-DETR Nano. It is the strongest Phase 2 model across the main reported metrics and remains the best Phase 1 performer on AP quality.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2" name="Text 13"/>
          <p:cNvSpPr/>
          <p:nvPr/>
        </p:nvSpPr>
        <p:spPr>
          <a:xfrm>
            <a:off x="713160" y="3977640"/>
            <a:ext cx="731484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333333"/>
                </a:solidFill>
                <a:latin typeface="Aptos"/>
              </a:rPr>
              <a:t>• </a:t>
            </a:r>
            <a:r>
              <a:rPr b="0" lang="en-US" sz="1500" spc="-1" strike="noStrike">
                <a:solidFill>
                  <a:srgbClr val="333333"/>
                </a:solidFill>
                <a:latin typeface="Aptos"/>
              </a:rPr>
              <a:t>Classes evaluated: flat_plant, no_plant, ok_plant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333333"/>
                </a:solidFill>
                <a:latin typeface="Aptos"/>
              </a:rPr>
              <a:t>• </a:t>
            </a:r>
            <a:r>
              <a:rPr b="0" lang="en-US" sz="1500" spc="-1" strike="noStrike">
                <a:solidFill>
                  <a:srgbClr val="333333"/>
                </a:solidFill>
                <a:latin typeface="Aptos"/>
              </a:rPr>
              <a:t>Metrics compared: Precision, Recall, Macro F1, mAP50, mAP50-95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333333"/>
                </a:solidFill>
                <a:latin typeface="Aptos"/>
              </a:rPr>
              <a:t>• </a:t>
            </a:r>
            <a:r>
              <a:rPr b="0" lang="en-US" sz="1500" spc="-1" strike="noStrike">
                <a:solidFill>
                  <a:srgbClr val="333333"/>
                </a:solidFill>
                <a:latin typeface="Aptos"/>
              </a:rPr>
              <a:t>Keep validation and independent-test results separated for fair interpretation</a:t>
            </a:r>
            <a:endParaRPr b="0" lang="en-US" sz="1500" spc="-1" strike="noStrike">
              <a:latin typeface="Arial"/>
            </a:endParaRPr>
          </a:p>
        </p:txBody>
      </p:sp>
      <p:pic>
        <p:nvPicPr>
          <p:cNvPr id="63" name="Image 1" descr="/mnt/data/mardi_assets/qual_val_batch0_pred.png"/>
          <p:cNvPicPr/>
          <p:nvPr/>
        </p:nvPicPr>
        <p:blipFill>
          <a:blip r:embed="rId2"/>
          <a:srcRect l="26891" t="0" r="26891" b="0"/>
          <a:stretch/>
        </p:blipFill>
        <p:spPr>
          <a:xfrm>
            <a:off x="9555480" y="1325880"/>
            <a:ext cx="1919880" cy="4023000"/>
          </a:xfrm>
          <a:prstGeom prst="rect">
            <a:avLst/>
          </a:prstGeom>
          <a:ln w="0">
            <a:noFill/>
          </a:ln>
        </p:spPr>
      </p:pic>
      <p:sp>
        <p:nvSpPr>
          <p:cNvPr id="64" name="Text 14"/>
          <p:cNvSpPr/>
          <p:nvPr/>
        </p:nvSpPr>
        <p:spPr>
          <a:xfrm>
            <a:off x="9555480" y="5523120"/>
            <a:ext cx="1919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777777"/>
                </a:solidFill>
                <a:latin typeface="Aptos"/>
              </a:rPr>
              <a:t>Validation predictions</a:t>
            </a:r>
            <a:endParaRPr b="0" lang="en-US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Image 0" descr="/mnt/data/mardi_assets/bg_content_clean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  <p:sp>
        <p:nvSpPr>
          <p:cNvPr id="66" name="Text 0"/>
          <p:cNvSpPr/>
          <p:nvPr/>
        </p:nvSpPr>
        <p:spPr>
          <a:xfrm>
            <a:off x="438840" y="109800"/>
            <a:ext cx="3017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780" spc="-1" strike="noStrike">
                <a:solidFill>
                  <a:srgbClr val="e51b2b"/>
                </a:solidFill>
                <a:latin typeface="Aptos"/>
                <a:ea typeface="Aptos"/>
              </a:rPr>
              <a:t>MARDI PINEAPPLE DETECTION AI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67" name="Text 1"/>
          <p:cNvSpPr/>
          <p:nvPr/>
        </p:nvSpPr>
        <p:spPr>
          <a:xfrm>
            <a:off x="11292840" y="650124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50" spc="-1" strike="noStrike">
                <a:solidFill>
                  <a:srgbClr val="a0a0a0"/>
                </a:solidFill>
                <a:latin typeface="Aptos"/>
              </a:rPr>
              <a:t>‹</a:t>
            </a:r>
            <a:r>
              <a:rPr b="0" lang="en-US" sz="750" spc="-1" strike="noStrike">
                <a:solidFill>
                  <a:srgbClr val="a0a0a0"/>
                </a:solidFill>
                <a:latin typeface="Aptos"/>
              </a:rPr>
              <a:t>3›</a:t>
            </a:r>
            <a:endParaRPr b="0" lang="en-US" sz="750" spc="-1" strike="noStrike">
              <a:latin typeface="Arial"/>
            </a:endParaRPr>
          </a:p>
        </p:txBody>
      </p:sp>
      <p:sp>
        <p:nvSpPr>
          <p:cNvPr id="68" name="Text 2"/>
          <p:cNvSpPr/>
          <p:nvPr/>
        </p:nvSpPr>
        <p:spPr>
          <a:xfrm>
            <a:off x="530280" y="502920"/>
            <a:ext cx="89607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e51b2b"/>
                </a:solidFill>
                <a:latin typeface="Aptos Display"/>
                <a:ea typeface="Aptos Display"/>
              </a:rPr>
              <a:t>Project Objective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69" name="Text 3"/>
          <p:cNvSpPr/>
          <p:nvPr/>
        </p:nvSpPr>
        <p:spPr>
          <a:xfrm>
            <a:off x="548640" y="969120"/>
            <a:ext cx="8960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50" spc="-1" strike="noStrike">
                <a:solidFill>
                  <a:srgbClr val="333333"/>
                </a:solidFill>
                <a:latin typeface="Aptos"/>
              </a:rPr>
              <a:t>Detect pineapple field conditions using AI vision models for reporting and downstream agronomy analytics.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70" name="Text 4"/>
          <p:cNvSpPr/>
          <p:nvPr/>
        </p:nvSpPr>
        <p:spPr>
          <a:xfrm>
            <a:off x="749880" y="1408320"/>
            <a:ext cx="3748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 fontScale="95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e51b2b"/>
                </a:solidFill>
                <a:latin typeface="Aptos"/>
                <a:ea typeface="Aptos"/>
              </a:rPr>
              <a:t>AI Detection Goal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71" name="Text 5"/>
          <p:cNvSpPr/>
          <p:nvPr/>
        </p:nvSpPr>
        <p:spPr>
          <a:xfrm>
            <a:off x="749880" y="1783080"/>
            <a:ext cx="4708800" cy="98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 fontScale="93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700" spc="-1" strike="noStrike">
                <a:solidFill>
                  <a:srgbClr val="16473f"/>
                </a:solidFill>
                <a:latin typeface="Aptos"/>
                <a:ea typeface="Aptos"/>
              </a:rPr>
              <a:t>Automatically identify and localize pineapple plant status in field imagery so that plantation teams can quantify flat plants, missing plants, and healthy plants consistently.</a:t>
            </a:r>
            <a:endParaRPr b="0" lang="en-US" sz="1700" spc="-1" strike="noStrike">
              <a:latin typeface="Arial"/>
            </a:endParaRPr>
          </a:p>
        </p:txBody>
      </p:sp>
      <p:pic>
        <p:nvPicPr>
          <p:cNvPr id="72" name="Image 1" descr="/mnt/data/mardi_assets/class_table.png"/>
          <p:cNvPicPr/>
          <p:nvPr/>
        </p:nvPicPr>
        <p:blipFill>
          <a:blip r:embed="rId2"/>
          <a:stretch/>
        </p:blipFill>
        <p:spPr>
          <a:xfrm>
            <a:off x="777240" y="3119760"/>
            <a:ext cx="5211720" cy="1496160"/>
          </a:xfrm>
          <a:prstGeom prst="rect">
            <a:avLst/>
          </a:prstGeom>
          <a:ln w="0">
            <a:noFill/>
          </a:ln>
        </p:spPr>
      </p:pic>
      <p:sp>
        <p:nvSpPr>
          <p:cNvPr id="73" name="Text 6"/>
          <p:cNvSpPr/>
          <p:nvPr/>
        </p:nvSpPr>
        <p:spPr>
          <a:xfrm>
            <a:off x="822960" y="4956120"/>
            <a:ext cx="50288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 fontScale="89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50" spc="-1" strike="noStrike">
                <a:solidFill>
                  <a:srgbClr val="333333"/>
                </a:solidFill>
                <a:latin typeface="Aptos"/>
                <a:ea typeface="Aptos"/>
              </a:rPr>
              <a:t>Model output examples show multi-class bounding boxes over plantation images, allowing counts and condition reports to be produced from field video frames.</a:t>
            </a:r>
            <a:endParaRPr b="0" lang="en-US" sz="1550" spc="-1" strike="noStrike">
              <a:latin typeface="Arial"/>
            </a:endParaRPr>
          </a:p>
        </p:txBody>
      </p:sp>
      <p:pic>
        <p:nvPicPr>
          <p:cNvPr id="74" name="Image 2" descr="/mnt/data/mardi_assets/qual_val_batch1_pred.png"/>
          <p:cNvPicPr/>
          <p:nvPr/>
        </p:nvPicPr>
        <p:blipFill>
          <a:blip r:embed="rId3"/>
          <a:srcRect l="0" t="3667" r="0" b="3667"/>
          <a:stretch/>
        </p:blipFill>
        <p:spPr>
          <a:xfrm>
            <a:off x="6400800" y="1298520"/>
            <a:ext cx="4891680" cy="4388760"/>
          </a:xfrm>
          <a:prstGeom prst="rect">
            <a:avLst/>
          </a:prstGeom>
          <a:ln w="0">
            <a:noFill/>
          </a:ln>
        </p:spPr>
      </p:pic>
      <p:sp>
        <p:nvSpPr>
          <p:cNvPr id="75" name="Text 7"/>
          <p:cNvSpPr/>
          <p:nvPr/>
        </p:nvSpPr>
        <p:spPr>
          <a:xfrm>
            <a:off x="6419160" y="5815440"/>
            <a:ext cx="2742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777777"/>
                </a:solidFill>
                <a:latin typeface="Aptos"/>
              </a:rPr>
              <a:t>Sample prediction montage</a:t>
            </a:r>
            <a:endParaRPr b="0" lang="en-US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Image 0" descr="/mnt/data/mardi_assets/bg_content_clean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  <p:sp>
        <p:nvSpPr>
          <p:cNvPr id="77" name="Text 0"/>
          <p:cNvSpPr/>
          <p:nvPr/>
        </p:nvSpPr>
        <p:spPr>
          <a:xfrm>
            <a:off x="438840" y="109800"/>
            <a:ext cx="3017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780" spc="-1" strike="noStrike">
                <a:solidFill>
                  <a:srgbClr val="e51b2b"/>
                </a:solidFill>
                <a:latin typeface="Aptos"/>
                <a:ea typeface="Aptos"/>
              </a:rPr>
              <a:t>MARDI PINEAPPLE DETECTION AI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78" name="Text 1"/>
          <p:cNvSpPr/>
          <p:nvPr/>
        </p:nvSpPr>
        <p:spPr>
          <a:xfrm>
            <a:off x="11292840" y="650124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50" spc="-1" strike="noStrike">
                <a:solidFill>
                  <a:srgbClr val="a0a0a0"/>
                </a:solidFill>
                <a:latin typeface="Aptos"/>
              </a:rPr>
              <a:t>‹</a:t>
            </a:r>
            <a:r>
              <a:rPr b="0" lang="en-US" sz="750" spc="-1" strike="noStrike">
                <a:solidFill>
                  <a:srgbClr val="a0a0a0"/>
                </a:solidFill>
                <a:latin typeface="Aptos"/>
              </a:rPr>
              <a:t>4›</a:t>
            </a:r>
            <a:endParaRPr b="0" lang="en-US" sz="750" spc="-1" strike="noStrike">
              <a:latin typeface="Arial"/>
            </a:endParaRPr>
          </a:p>
        </p:txBody>
      </p:sp>
      <p:sp>
        <p:nvSpPr>
          <p:cNvPr id="79" name="Text 2"/>
          <p:cNvSpPr/>
          <p:nvPr/>
        </p:nvSpPr>
        <p:spPr>
          <a:xfrm>
            <a:off x="530280" y="502920"/>
            <a:ext cx="89607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e51b2b"/>
                </a:solidFill>
                <a:latin typeface="Aptos Display"/>
                <a:ea typeface="Aptos Display"/>
              </a:rPr>
              <a:t>Dataset &amp; Training Scope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80" name="Text 3"/>
          <p:cNvSpPr/>
          <p:nvPr/>
        </p:nvSpPr>
        <p:spPr>
          <a:xfrm>
            <a:off x="548640" y="969120"/>
            <a:ext cx="8960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50" spc="-1" strike="noStrike">
                <a:solidFill>
                  <a:srgbClr val="333333"/>
                </a:solidFill>
                <a:latin typeface="Aptos"/>
              </a:rPr>
              <a:t>Phase 1 established a baseline; Phase 2 expanded the image export and tested stronger candidates.</a:t>
            </a:r>
            <a:endParaRPr b="0" lang="en-US" sz="1350" spc="-1" strike="noStrike">
              <a:latin typeface="Arial"/>
            </a:endParaRPr>
          </a:p>
        </p:txBody>
      </p:sp>
      <p:pic>
        <p:nvPicPr>
          <p:cNvPr id="81" name="Image 1" descr="/mnt/data/mardi_assets/scope_table.png"/>
          <p:cNvPicPr/>
          <p:nvPr/>
        </p:nvPicPr>
        <p:blipFill>
          <a:blip r:embed="rId2"/>
          <a:stretch/>
        </p:blipFill>
        <p:spPr>
          <a:xfrm>
            <a:off x="1400760" y="1417320"/>
            <a:ext cx="8893440" cy="1352880"/>
          </a:xfrm>
          <a:prstGeom prst="rect">
            <a:avLst/>
          </a:prstGeom>
          <a:ln w="0">
            <a:noFill/>
          </a:ln>
        </p:spPr>
      </p:pic>
      <p:pic>
        <p:nvPicPr>
          <p:cNvPr id="82" name="Image 2" descr="/mnt/data/mardi_assets/phase2_distribution.png"/>
          <p:cNvPicPr/>
          <p:nvPr/>
        </p:nvPicPr>
        <p:blipFill>
          <a:blip r:embed="rId3"/>
          <a:stretch/>
        </p:blipFill>
        <p:spPr>
          <a:xfrm>
            <a:off x="804600" y="3094560"/>
            <a:ext cx="5074560" cy="2506680"/>
          </a:xfrm>
          <a:prstGeom prst="rect">
            <a:avLst/>
          </a:prstGeom>
          <a:ln w="0">
            <a:noFill/>
          </a:ln>
        </p:spPr>
      </p:pic>
      <p:sp>
        <p:nvSpPr>
          <p:cNvPr id="83" name="Text 4"/>
          <p:cNvSpPr/>
          <p:nvPr/>
        </p:nvSpPr>
        <p:spPr>
          <a:xfrm>
            <a:off x="6419160" y="2999160"/>
            <a:ext cx="4251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 fontScale="74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900" spc="-1" strike="noStrike">
                <a:solidFill>
                  <a:srgbClr val="e51b2b"/>
                </a:solidFill>
                <a:latin typeface="Aptos"/>
                <a:ea typeface="Aptos"/>
              </a:rPr>
              <a:t>Phase 2 selected-model dataset summary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84" name="Text 5"/>
          <p:cNvSpPr/>
          <p:nvPr/>
        </p:nvSpPr>
        <p:spPr>
          <a:xfrm>
            <a:off x="6446520" y="3529440"/>
            <a:ext cx="4571640" cy="150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333333"/>
                </a:solidFill>
                <a:latin typeface="Aptos"/>
              </a:rPr>
              <a:t>• </a:t>
            </a:r>
            <a:r>
              <a:rPr b="0" lang="en-US" sz="1500" spc="-1" strike="noStrike">
                <a:solidFill>
                  <a:srgbClr val="333333"/>
                </a:solidFill>
                <a:latin typeface="Aptos"/>
              </a:rPr>
              <a:t>Original source images: 20,724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333333"/>
                </a:solidFill>
                <a:latin typeface="Aptos"/>
              </a:rPr>
              <a:t>• </a:t>
            </a:r>
            <a:r>
              <a:rPr b="0" lang="en-US" sz="1500" spc="-1" strike="noStrike">
                <a:solidFill>
                  <a:srgbClr val="333333"/>
                </a:solidFill>
                <a:latin typeface="Aptos"/>
              </a:rPr>
              <a:t>Exported training images: 87,040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333333"/>
                </a:solidFill>
                <a:latin typeface="Aptos"/>
              </a:rPr>
              <a:t>• </a:t>
            </a:r>
            <a:r>
              <a:rPr b="0" lang="en-US" sz="1500" spc="-1" strike="noStrike">
                <a:solidFill>
                  <a:srgbClr val="333333"/>
                </a:solidFill>
                <a:latin typeface="Aptos"/>
              </a:rPr>
              <a:t>Split: train 95.24%, validation 2.38%, test 2.38%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333333"/>
                </a:solidFill>
                <a:latin typeface="Aptos"/>
              </a:rPr>
              <a:t>• </a:t>
            </a:r>
            <a:r>
              <a:rPr b="0" lang="en-US" sz="1500" spc="-1" strike="noStrike">
                <a:solidFill>
                  <a:srgbClr val="333333"/>
                </a:solidFill>
                <a:latin typeface="Aptos"/>
              </a:rPr>
              <a:t>Missing labels: 0; warnings: none identified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85" name="Text 6"/>
          <p:cNvSpPr/>
          <p:nvPr/>
        </p:nvSpPr>
        <p:spPr>
          <a:xfrm>
            <a:off x="6446520" y="5257800"/>
            <a:ext cx="434304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 fontScale="81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50" spc="-1" strike="noStrike">
                <a:solidFill>
                  <a:srgbClr val="16473f"/>
                </a:solidFill>
                <a:latin typeface="Aptos"/>
                <a:ea typeface="Aptos"/>
              </a:rPr>
              <a:t>The larger Phase 2 export increases coverage and supports the RF-DETR Nano deployment candidate.</a:t>
            </a:r>
            <a:endParaRPr b="0" lang="en-US" sz="14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Image 0" descr="/mnt/data/mardi_assets/bg_content_clean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  <p:sp>
        <p:nvSpPr>
          <p:cNvPr id="87" name="Text 0"/>
          <p:cNvSpPr/>
          <p:nvPr/>
        </p:nvSpPr>
        <p:spPr>
          <a:xfrm>
            <a:off x="438840" y="109800"/>
            <a:ext cx="3017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780" spc="-1" strike="noStrike">
                <a:solidFill>
                  <a:srgbClr val="e51b2b"/>
                </a:solidFill>
                <a:latin typeface="Aptos"/>
                <a:ea typeface="Aptos"/>
              </a:rPr>
              <a:t>MARDI PINEAPPLE DETECTION AI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88" name="Text 1"/>
          <p:cNvSpPr/>
          <p:nvPr/>
        </p:nvSpPr>
        <p:spPr>
          <a:xfrm>
            <a:off x="11292840" y="650124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50" spc="-1" strike="noStrike">
                <a:solidFill>
                  <a:srgbClr val="a0a0a0"/>
                </a:solidFill>
                <a:latin typeface="Aptos"/>
              </a:rPr>
              <a:t>‹</a:t>
            </a:r>
            <a:r>
              <a:rPr b="0" lang="en-US" sz="750" spc="-1" strike="noStrike">
                <a:solidFill>
                  <a:srgbClr val="a0a0a0"/>
                </a:solidFill>
                <a:latin typeface="Aptos"/>
              </a:rPr>
              <a:t>5›</a:t>
            </a:r>
            <a:endParaRPr b="0" lang="en-US" sz="750" spc="-1" strike="noStrike">
              <a:latin typeface="Arial"/>
            </a:endParaRPr>
          </a:p>
        </p:txBody>
      </p:sp>
      <p:sp>
        <p:nvSpPr>
          <p:cNvPr id="89" name="Text 2"/>
          <p:cNvSpPr/>
          <p:nvPr/>
        </p:nvSpPr>
        <p:spPr>
          <a:xfrm>
            <a:off x="530280" y="502920"/>
            <a:ext cx="89607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e51b2b"/>
                </a:solidFill>
                <a:latin typeface="Aptos Display"/>
                <a:ea typeface="Aptos Display"/>
              </a:rPr>
              <a:t>All Model AP Overview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90" name="Text 3"/>
          <p:cNvSpPr/>
          <p:nvPr/>
        </p:nvSpPr>
        <p:spPr>
          <a:xfrm>
            <a:off x="548640" y="969120"/>
            <a:ext cx="8960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50" spc="-1" strike="noStrike">
                <a:solidFill>
                  <a:srgbClr val="333333"/>
                </a:solidFill>
                <a:latin typeface="Aptos"/>
              </a:rPr>
              <a:t>Average Precision comparison across all combined model runs.</a:t>
            </a:r>
            <a:endParaRPr b="0" lang="en-US" sz="1350" spc="-1" strike="noStrike">
              <a:latin typeface="Arial"/>
            </a:endParaRPr>
          </a:p>
        </p:txBody>
      </p:sp>
      <p:pic>
        <p:nvPicPr>
          <p:cNvPr id="91" name="Image 1" descr="/mnt/data/mardi_assets/all_models_ap.png"/>
          <p:cNvPicPr/>
          <p:nvPr/>
        </p:nvPicPr>
        <p:blipFill>
          <a:blip r:embed="rId2"/>
          <a:stretch/>
        </p:blipFill>
        <p:spPr>
          <a:xfrm>
            <a:off x="685800" y="1729080"/>
            <a:ext cx="7360560" cy="3719520"/>
          </a:xfrm>
          <a:prstGeom prst="rect">
            <a:avLst/>
          </a:prstGeom>
          <a:ln w="0">
            <a:noFill/>
          </a:ln>
        </p:spPr>
      </p:pic>
      <p:sp>
        <p:nvSpPr>
          <p:cNvPr id="92" name="Text 4"/>
          <p:cNvSpPr/>
          <p:nvPr/>
        </p:nvSpPr>
        <p:spPr>
          <a:xfrm>
            <a:off x="8503920" y="155448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 fontScale="98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100" spc="-1" strike="noStrike">
                <a:solidFill>
                  <a:srgbClr val="e51b2b"/>
                </a:solidFill>
                <a:latin typeface="Aptos"/>
                <a:ea typeface="Aptos"/>
              </a:rPr>
              <a:t>Top AP performers</a:t>
            </a:r>
            <a:endParaRPr b="0" lang="en-US" sz="2100" spc="-1" strike="noStrike">
              <a:latin typeface="Arial"/>
            </a:endParaRPr>
          </a:p>
        </p:txBody>
      </p:sp>
      <p:sp>
        <p:nvSpPr>
          <p:cNvPr id="93" name="Text 5"/>
          <p:cNvSpPr/>
          <p:nvPr/>
        </p:nvSpPr>
        <p:spPr>
          <a:xfrm>
            <a:off x="8522280" y="2011680"/>
            <a:ext cx="24685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300" spc="-1" strike="noStrike">
                <a:solidFill>
                  <a:srgbClr val="184d44"/>
                </a:solidFill>
                <a:latin typeface="Aptos Display"/>
                <a:ea typeface="Aptos Display"/>
              </a:rPr>
              <a:t>0.9089</a:t>
            </a:r>
            <a:endParaRPr b="0" lang="en-US" sz="3300" spc="-1" strike="noStrike">
              <a:latin typeface="Arial"/>
            </a:endParaRPr>
          </a:p>
        </p:txBody>
      </p:sp>
      <p:sp>
        <p:nvSpPr>
          <p:cNvPr id="94" name="Text 6"/>
          <p:cNvSpPr/>
          <p:nvPr/>
        </p:nvSpPr>
        <p:spPr>
          <a:xfrm>
            <a:off x="8522280" y="2578680"/>
            <a:ext cx="24685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333333"/>
                </a:solidFill>
                <a:latin typeface="Aptos"/>
              </a:rPr>
              <a:t>Phase 1 RF-DETR Nano mAP50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95" name="Text 7"/>
          <p:cNvSpPr/>
          <p:nvPr/>
        </p:nvSpPr>
        <p:spPr>
          <a:xfrm>
            <a:off x="8522280" y="3154680"/>
            <a:ext cx="26514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300" spc="-1" strike="noStrike">
                <a:solidFill>
                  <a:srgbClr val="e51b2b"/>
                </a:solidFill>
                <a:latin typeface="Aptos Display"/>
                <a:ea typeface="Aptos Display"/>
              </a:rPr>
              <a:t>0.5664</a:t>
            </a:r>
            <a:endParaRPr b="0" lang="en-US" sz="3300" spc="-1" strike="noStrike">
              <a:latin typeface="Arial"/>
            </a:endParaRPr>
          </a:p>
        </p:txBody>
      </p:sp>
      <p:sp>
        <p:nvSpPr>
          <p:cNvPr id="96" name="Text 8"/>
          <p:cNvSpPr/>
          <p:nvPr/>
        </p:nvSpPr>
        <p:spPr>
          <a:xfrm>
            <a:off x="8522280" y="3721680"/>
            <a:ext cx="26514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333333"/>
                </a:solidFill>
                <a:latin typeface="Aptos"/>
              </a:rPr>
              <a:t>Phase 1 RF-DETR Nano mAP50-95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97" name="Text 9"/>
          <p:cNvSpPr/>
          <p:nvPr/>
        </p:nvSpPr>
        <p:spPr>
          <a:xfrm>
            <a:off x="8522280" y="4297680"/>
            <a:ext cx="24685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300" spc="-1" strike="noStrike">
                <a:solidFill>
                  <a:srgbClr val="184d44"/>
                </a:solidFill>
                <a:latin typeface="Aptos Display"/>
                <a:ea typeface="Aptos Display"/>
              </a:rPr>
              <a:t>0.9046</a:t>
            </a:r>
            <a:endParaRPr b="0" lang="en-US" sz="3300" spc="-1" strike="noStrike">
              <a:latin typeface="Arial"/>
            </a:endParaRPr>
          </a:p>
        </p:txBody>
      </p:sp>
      <p:sp>
        <p:nvSpPr>
          <p:cNvPr id="98" name="Text 10"/>
          <p:cNvSpPr/>
          <p:nvPr/>
        </p:nvSpPr>
        <p:spPr>
          <a:xfrm>
            <a:off x="8522280" y="4864680"/>
            <a:ext cx="24685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333333"/>
                </a:solidFill>
                <a:latin typeface="Aptos"/>
              </a:rPr>
              <a:t>Phase 2 RF-DETR Nano mAP50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99" name="Text 11"/>
          <p:cNvSpPr/>
          <p:nvPr/>
        </p:nvSpPr>
        <p:spPr>
          <a:xfrm>
            <a:off x="8549640" y="5504760"/>
            <a:ext cx="26514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 fontScale="76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50" spc="-1" strike="noStrike">
                <a:solidFill>
                  <a:srgbClr val="16473f"/>
                </a:solidFill>
                <a:latin typeface="Aptos"/>
                <a:ea typeface="Aptos"/>
              </a:rPr>
              <a:t>RF-DETR Nano remains the strongest reported localization candidate across both phases.</a:t>
            </a:r>
            <a:endParaRPr b="0" lang="en-US" sz="13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Image 0" descr="/mnt/data/mardi_assets/bg_content_clean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  <p:sp>
        <p:nvSpPr>
          <p:cNvPr id="101" name="Text 0"/>
          <p:cNvSpPr/>
          <p:nvPr/>
        </p:nvSpPr>
        <p:spPr>
          <a:xfrm>
            <a:off x="438840" y="109800"/>
            <a:ext cx="3017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780" spc="-1" strike="noStrike">
                <a:solidFill>
                  <a:srgbClr val="e51b2b"/>
                </a:solidFill>
                <a:latin typeface="Aptos"/>
                <a:ea typeface="Aptos"/>
              </a:rPr>
              <a:t>MARDI PINEAPPLE DETECTION AI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102" name="Text 1"/>
          <p:cNvSpPr/>
          <p:nvPr/>
        </p:nvSpPr>
        <p:spPr>
          <a:xfrm>
            <a:off x="11292840" y="650124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50" spc="-1" strike="noStrike">
                <a:solidFill>
                  <a:srgbClr val="a0a0a0"/>
                </a:solidFill>
                <a:latin typeface="Aptos"/>
              </a:rPr>
              <a:t>‹</a:t>
            </a:r>
            <a:r>
              <a:rPr b="0" lang="en-US" sz="750" spc="-1" strike="noStrike">
                <a:solidFill>
                  <a:srgbClr val="a0a0a0"/>
                </a:solidFill>
                <a:latin typeface="Aptos"/>
              </a:rPr>
              <a:t>6›</a:t>
            </a:r>
            <a:endParaRPr b="0" lang="en-US" sz="750" spc="-1" strike="noStrike">
              <a:latin typeface="Arial"/>
            </a:endParaRPr>
          </a:p>
        </p:txBody>
      </p:sp>
      <p:sp>
        <p:nvSpPr>
          <p:cNvPr id="103" name="Text 2"/>
          <p:cNvSpPr/>
          <p:nvPr/>
        </p:nvSpPr>
        <p:spPr>
          <a:xfrm>
            <a:off x="530280" y="502920"/>
            <a:ext cx="89607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e51b2b"/>
                </a:solidFill>
                <a:latin typeface="Aptos Display"/>
                <a:ea typeface="Aptos Display"/>
              </a:rPr>
              <a:t>Phase 1 Model Comparison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104" name="Text 3"/>
          <p:cNvSpPr/>
          <p:nvPr/>
        </p:nvSpPr>
        <p:spPr>
          <a:xfrm>
            <a:off x="548640" y="969120"/>
            <a:ext cx="8960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50" spc="-1" strike="noStrike">
                <a:solidFill>
                  <a:srgbClr val="333333"/>
                </a:solidFill>
                <a:latin typeface="Aptos"/>
              </a:rPr>
              <a:t>Five model runs across the 43,028 and 52,174 image exports.</a:t>
            </a:r>
            <a:endParaRPr b="0" lang="en-US" sz="1350" spc="-1" strike="noStrike">
              <a:latin typeface="Arial"/>
            </a:endParaRPr>
          </a:p>
        </p:txBody>
      </p:sp>
      <p:pic>
        <p:nvPicPr>
          <p:cNvPr id="105" name="Image 1" descr="/mnt/data/mardi_assets/phase1_table.png"/>
          <p:cNvPicPr/>
          <p:nvPr/>
        </p:nvPicPr>
        <p:blipFill>
          <a:blip r:embed="rId2"/>
          <a:stretch/>
        </p:blipFill>
        <p:spPr>
          <a:xfrm>
            <a:off x="780120" y="1298520"/>
            <a:ext cx="10372680" cy="2377080"/>
          </a:xfrm>
          <a:prstGeom prst="rect">
            <a:avLst/>
          </a:prstGeom>
          <a:ln w="0">
            <a:noFill/>
          </a:ln>
        </p:spPr>
      </p:pic>
      <p:sp>
        <p:nvSpPr>
          <p:cNvPr id="106" name="Text 4"/>
          <p:cNvSpPr/>
          <p:nvPr/>
        </p:nvSpPr>
        <p:spPr>
          <a:xfrm>
            <a:off x="713160" y="3913560"/>
            <a:ext cx="2377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 fontScale="99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100" spc="-1" strike="noStrike">
                <a:solidFill>
                  <a:srgbClr val="e51b2b"/>
                </a:solidFill>
                <a:latin typeface="Aptos"/>
                <a:ea typeface="Aptos"/>
              </a:rPr>
              <a:t>Interpretation</a:t>
            </a:r>
            <a:endParaRPr b="0" lang="en-US" sz="2100" spc="-1" strike="noStrike">
              <a:latin typeface="Arial"/>
            </a:endParaRPr>
          </a:p>
        </p:txBody>
      </p:sp>
      <p:sp>
        <p:nvSpPr>
          <p:cNvPr id="107" name="Text 5"/>
          <p:cNvSpPr/>
          <p:nvPr/>
        </p:nvSpPr>
        <p:spPr>
          <a:xfrm>
            <a:off x="758880" y="4407480"/>
            <a:ext cx="585180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 fontScale="94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333333"/>
                </a:solidFill>
                <a:latin typeface="Aptos"/>
              </a:rPr>
              <a:t>• </a:t>
            </a:r>
            <a:r>
              <a:rPr b="0" lang="en-US" sz="1500" spc="-1" strike="noStrike">
                <a:solidFill>
                  <a:srgbClr val="333333"/>
                </a:solidFill>
                <a:latin typeface="Aptos"/>
              </a:rPr>
              <a:t>RF-DETR Nano delivers the highest mAP50, mAP50-95, recall, and macro F1.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333333"/>
                </a:solidFill>
                <a:latin typeface="Aptos"/>
              </a:rPr>
              <a:t>• </a:t>
            </a:r>
            <a:r>
              <a:rPr b="0" lang="en-US" sz="1500" spc="-1" strike="noStrike">
                <a:solidFill>
                  <a:srgbClr val="333333"/>
                </a:solidFill>
                <a:latin typeface="Aptos"/>
              </a:rPr>
              <a:t>YOLO26s records the highest precision among Phase 1 models.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333333"/>
                </a:solidFill>
                <a:latin typeface="Aptos"/>
              </a:rPr>
              <a:t>• </a:t>
            </a:r>
            <a:r>
              <a:rPr b="0" lang="en-US" sz="1500" spc="-1" strike="noStrike">
                <a:solidFill>
                  <a:srgbClr val="333333"/>
                </a:solidFill>
                <a:latin typeface="Aptos"/>
              </a:rPr>
              <a:t>YOLO26n is close on mAP50-95, but uses an independent test source and smaller export.</a:t>
            </a:r>
            <a:endParaRPr b="0" lang="en-US" sz="1500" spc="-1" strike="noStrike">
              <a:latin typeface="Arial"/>
            </a:endParaRPr>
          </a:p>
        </p:txBody>
      </p:sp>
      <p:pic>
        <p:nvPicPr>
          <p:cNvPr id="108" name="Image 2" descr="/mnt/data/mardi_assets/phase1_page.png"/>
          <p:cNvPicPr/>
          <p:nvPr/>
        </p:nvPicPr>
        <p:blipFill>
          <a:blip r:embed="rId3"/>
          <a:stretch/>
        </p:blipFill>
        <p:spPr>
          <a:xfrm>
            <a:off x="8526960" y="3822120"/>
            <a:ext cx="1324800" cy="1874160"/>
          </a:xfrm>
          <a:prstGeom prst="rect">
            <a:avLst/>
          </a:prstGeom>
          <a:ln w="0">
            <a:noFill/>
          </a:ln>
        </p:spPr>
      </p:pic>
      <p:sp>
        <p:nvSpPr>
          <p:cNvPr id="109" name="Text 6"/>
          <p:cNvSpPr/>
          <p:nvPr/>
        </p:nvSpPr>
        <p:spPr>
          <a:xfrm>
            <a:off x="7818120" y="5760720"/>
            <a:ext cx="27428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777777"/>
                </a:solidFill>
                <a:latin typeface="Aptos"/>
              </a:rPr>
              <a:t>Original report page reference</a:t>
            </a:r>
            <a:endParaRPr b="0" lang="en-US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Image 0" descr="/mnt/data/mardi_assets/bg_content_clean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  <p:sp>
        <p:nvSpPr>
          <p:cNvPr id="111" name="Text 0"/>
          <p:cNvSpPr/>
          <p:nvPr/>
        </p:nvSpPr>
        <p:spPr>
          <a:xfrm>
            <a:off x="438840" y="109800"/>
            <a:ext cx="3017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780" spc="-1" strike="noStrike">
                <a:solidFill>
                  <a:srgbClr val="e51b2b"/>
                </a:solidFill>
                <a:latin typeface="Aptos"/>
                <a:ea typeface="Aptos"/>
              </a:rPr>
              <a:t>MARDI PINEAPPLE DETECTION AI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112" name="Text 1"/>
          <p:cNvSpPr/>
          <p:nvPr/>
        </p:nvSpPr>
        <p:spPr>
          <a:xfrm>
            <a:off x="11292840" y="650124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50" spc="-1" strike="noStrike">
                <a:solidFill>
                  <a:srgbClr val="a0a0a0"/>
                </a:solidFill>
                <a:latin typeface="Aptos"/>
              </a:rPr>
              <a:t>‹</a:t>
            </a:r>
            <a:r>
              <a:rPr b="0" lang="en-US" sz="750" spc="-1" strike="noStrike">
                <a:solidFill>
                  <a:srgbClr val="a0a0a0"/>
                </a:solidFill>
                <a:latin typeface="Aptos"/>
              </a:rPr>
              <a:t>7›</a:t>
            </a:r>
            <a:endParaRPr b="0" lang="en-US" sz="750" spc="-1" strike="noStrike">
              <a:latin typeface="Arial"/>
            </a:endParaRPr>
          </a:p>
        </p:txBody>
      </p:sp>
      <p:sp>
        <p:nvSpPr>
          <p:cNvPr id="113" name="Text 2"/>
          <p:cNvSpPr/>
          <p:nvPr/>
        </p:nvSpPr>
        <p:spPr>
          <a:xfrm>
            <a:off x="530280" y="502920"/>
            <a:ext cx="89607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e51b2b"/>
                </a:solidFill>
                <a:latin typeface="Aptos Display"/>
                <a:ea typeface="Aptos Display"/>
              </a:rPr>
              <a:t>Phase 2 Model Comparison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114" name="Text 3"/>
          <p:cNvSpPr/>
          <p:nvPr/>
        </p:nvSpPr>
        <p:spPr>
          <a:xfrm>
            <a:off x="548640" y="969120"/>
            <a:ext cx="8960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50" spc="-1" strike="noStrike">
                <a:solidFill>
                  <a:srgbClr val="333333"/>
                </a:solidFill>
                <a:latin typeface="Aptos"/>
              </a:rPr>
              <a:t>Three model runs trained using the 87,040-image export.</a:t>
            </a:r>
            <a:endParaRPr b="0" lang="en-US" sz="1350" spc="-1" strike="noStrike">
              <a:latin typeface="Arial"/>
            </a:endParaRPr>
          </a:p>
        </p:txBody>
      </p:sp>
      <p:pic>
        <p:nvPicPr>
          <p:cNvPr id="115" name="Image 1" descr="/mnt/data/mardi_assets/phase2_metrics.png"/>
          <p:cNvPicPr/>
          <p:nvPr/>
        </p:nvPicPr>
        <p:blipFill>
          <a:blip r:embed="rId2"/>
          <a:stretch/>
        </p:blipFill>
        <p:spPr>
          <a:xfrm>
            <a:off x="713160" y="1866600"/>
            <a:ext cx="6766200" cy="3270600"/>
          </a:xfrm>
          <a:prstGeom prst="rect">
            <a:avLst/>
          </a:prstGeom>
          <a:ln w="0">
            <a:noFill/>
          </a:ln>
        </p:spPr>
      </p:pic>
      <p:pic>
        <p:nvPicPr>
          <p:cNvPr id="116" name="Image 2" descr="/mnt/data/mardi_assets/phase2_table.png"/>
          <p:cNvPicPr/>
          <p:nvPr/>
        </p:nvPicPr>
        <p:blipFill>
          <a:blip r:embed="rId3"/>
          <a:stretch/>
        </p:blipFill>
        <p:spPr>
          <a:xfrm>
            <a:off x="7543800" y="1913040"/>
            <a:ext cx="4251600" cy="882720"/>
          </a:xfrm>
          <a:prstGeom prst="rect">
            <a:avLst/>
          </a:prstGeom>
          <a:ln w="0">
            <a:noFill/>
          </a:ln>
        </p:spPr>
      </p:pic>
      <p:sp>
        <p:nvSpPr>
          <p:cNvPr id="117" name="Text 4"/>
          <p:cNvSpPr/>
          <p:nvPr/>
        </p:nvSpPr>
        <p:spPr>
          <a:xfrm>
            <a:off x="7562160" y="3703320"/>
            <a:ext cx="33829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e51b2b"/>
                </a:solidFill>
                <a:latin typeface="Aptos"/>
                <a:ea typeface="Aptos"/>
              </a:rPr>
              <a:t>Phase 2 selection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18" name="Text 5"/>
          <p:cNvSpPr/>
          <p:nvPr/>
        </p:nvSpPr>
        <p:spPr>
          <a:xfrm>
            <a:off x="7562160" y="4151520"/>
            <a:ext cx="34743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 fontScale="83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50" spc="-1" strike="noStrike">
                <a:solidFill>
                  <a:srgbClr val="16473f"/>
                </a:solidFill>
                <a:latin typeface="Aptos"/>
                <a:ea typeface="Aptos"/>
              </a:rPr>
              <a:t>RF-DETR Nano leads across all five main Phase 2 metrics. It should proceed to a controlled field test and hardware benchmark before production release.</a:t>
            </a:r>
            <a:endParaRPr b="0" lang="en-US" sz="1450" spc="-1" strike="noStrike">
              <a:latin typeface="Arial"/>
            </a:endParaRPr>
          </a:p>
        </p:txBody>
      </p:sp>
      <p:sp>
        <p:nvSpPr>
          <p:cNvPr id="119" name="Text 6"/>
          <p:cNvSpPr/>
          <p:nvPr/>
        </p:nvSpPr>
        <p:spPr>
          <a:xfrm>
            <a:off x="7562160" y="5349240"/>
            <a:ext cx="34743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 fontScale="87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20" spc="-1" strike="noStrike">
                <a:solidFill>
                  <a:srgbClr val="333333"/>
                </a:solidFill>
                <a:latin typeface="Aptos"/>
                <a:ea typeface="Aptos"/>
              </a:rPr>
              <a:t>Important: compare final deployment candidates using the same untouched test set.</a:t>
            </a:r>
            <a:endParaRPr b="0" lang="en-US" sz="132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Image 0" descr="/mnt/data/mardi_assets/bg_content_clean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  <p:sp>
        <p:nvSpPr>
          <p:cNvPr id="121" name="Text 0"/>
          <p:cNvSpPr/>
          <p:nvPr/>
        </p:nvSpPr>
        <p:spPr>
          <a:xfrm>
            <a:off x="438840" y="109800"/>
            <a:ext cx="3017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780" spc="-1" strike="noStrike">
                <a:solidFill>
                  <a:srgbClr val="e51b2b"/>
                </a:solidFill>
                <a:latin typeface="Aptos"/>
                <a:ea typeface="Aptos"/>
              </a:rPr>
              <a:t>MARDI PINEAPPLE DETECTION AI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122" name="Text 1"/>
          <p:cNvSpPr/>
          <p:nvPr/>
        </p:nvSpPr>
        <p:spPr>
          <a:xfrm>
            <a:off x="11292840" y="650124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50" spc="-1" strike="noStrike">
                <a:solidFill>
                  <a:srgbClr val="a0a0a0"/>
                </a:solidFill>
                <a:latin typeface="Aptos"/>
              </a:rPr>
              <a:t>‹</a:t>
            </a:r>
            <a:r>
              <a:rPr b="0" lang="en-US" sz="750" spc="-1" strike="noStrike">
                <a:solidFill>
                  <a:srgbClr val="a0a0a0"/>
                </a:solidFill>
                <a:latin typeface="Aptos"/>
              </a:rPr>
              <a:t>8›</a:t>
            </a:r>
            <a:endParaRPr b="0" lang="en-US" sz="750" spc="-1" strike="noStrike">
              <a:latin typeface="Arial"/>
            </a:endParaRPr>
          </a:p>
        </p:txBody>
      </p:sp>
      <p:sp>
        <p:nvSpPr>
          <p:cNvPr id="123" name="Text 2"/>
          <p:cNvSpPr/>
          <p:nvPr/>
        </p:nvSpPr>
        <p:spPr>
          <a:xfrm>
            <a:off x="530280" y="502920"/>
            <a:ext cx="89607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e51b2b"/>
                </a:solidFill>
                <a:latin typeface="Aptos Display"/>
                <a:ea typeface="Aptos Display"/>
              </a:rPr>
              <a:t>Selected Candidate: RF-DETR Nano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124" name="Text 3"/>
          <p:cNvSpPr/>
          <p:nvPr/>
        </p:nvSpPr>
        <p:spPr>
          <a:xfrm>
            <a:off x="548640" y="969120"/>
            <a:ext cx="8960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50" spc="-1" strike="noStrike">
                <a:solidFill>
                  <a:srgbClr val="333333"/>
                </a:solidFill>
                <a:latin typeface="Aptos"/>
              </a:rPr>
              <a:t>Phase 2 model with strongest reported validation metrics.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125" name="Text 4"/>
          <p:cNvSpPr/>
          <p:nvPr/>
        </p:nvSpPr>
        <p:spPr>
          <a:xfrm>
            <a:off x="685800" y="1389960"/>
            <a:ext cx="18284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300" spc="-1" strike="noStrike">
                <a:solidFill>
                  <a:srgbClr val="e51b2b"/>
                </a:solidFill>
                <a:latin typeface="Aptos Display"/>
                <a:ea typeface="Aptos Display"/>
              </a:rPr>
              <a:t>0.8977</a:t>
            </a:r>
            <a:endParaRPr b="0" lang="en-US" sz="3300" spc="-1" strike="noStrike">
              <a:latin typeface="Arial"/>
            </a:endParaRPr>
          </a:p>
        </p:txBody>
      </p:sp>
      <p:sp>
        <p:nvSpPr>
          <p:cNvPr id="126" name="Text 5"/>
          <p:cNvSpPr/>
          <p:nvPr/>
        </p:nvSpPr>
        <p:spPr>
          <a:xfrm>
            <a:off x="685800" y="1956960"/>
            <a:ext cx="18284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333333"/>
                </a:solidFill>
                <a:latin typeface="Aptos"/>
              </a:rPr>
              <a:t>Precision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127" name="Text 6"/>
          <p:cNvSpPr/>
          <p:nvPr/>
        </p:nvSpPr>
        <p:spPr>
          <a:xfrm>
            <a:off x="2541960" y="1389960"/>
            <a:ext cx="18284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300" spc="-1" strike="noStrike">
                <a:solidFill>
                  <a:srgbClr val="184d44"/>
                </a:solidFill>
                <a:latin typeface="Aptos Display"/>
                <a:ea typeface="Aptos Display"/>
              </a:rPr>
              <a:t>0.8714</a:t>
            </a:r>
            <a:endParaRPr b="0" lang="en-US" sz="3300" spc="-1" strike="noStrike">
              <a:latin typeface="Arial"/>
            </a:endParaRPr>
          </a:p>
        </p:txBody>
      </p:sp>
      <p:sp>
        <p:nvSpPr>
          <p:cNvPr id="128" name="Text 7"/>
          <p:cNvSpPr/>
          <p:nvPr/>
        </p:nvSpPr>
        <p:spPr>
          <a:xfrm>
            <a:off x="2541960" y="1956960"/>
            <a:ext cx="18284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333333"/>
                </a:solidFill>
                <a:latin typeface="Aptos"/>
              </a:rPr>
              <a:t>Recall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129" name="Text 8"/>
          <p:cNvSpPr/>
          <p:nvPr/>
        </p:nvSpPr>
        <p:spPr>
          <a:xfrm>
            <a:off x="4416480" y="1389960"/>
            <a:ext cx="18284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300" spc="-1" strike="noStrike">
                <a:solidFill>
                  <a:srgbClr val="e51b2b"/>
                </a:solidFill>
                <a:latin typeface="Aptos Display"/>
                <a:ea typeface="Aptos Display"/>
              </a:rPr>
              <a:t>0.8842</a:t>
            </a:r>
            <a:endParaRPr b="0" lang="en-US" sz="3300" spc="-1" strike="noStrike">
              <a:latin typeface="Arial"/>
            </a:endParaRPr>
          </a:p>
        </p:txBody>
      </p:sp>
      <p:sp>
        <p:nvSpPr>
          <p:cNvPr id="130" name="Text 9"/>
          <p:cNvSpPr/>
          <p:nvPr/>
        </p:nvSpPr>
        <p:spPr>
          <a:xfrm>
            <a:off x="4416480" y="1956960"/>
            <a:ext cx="18284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333333"/>
                </a:solidFill>
                <a:latin typeface="Aptos"/>
              </a:rPr>
              <a:t>Macro F1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131" name="Text 10"/>
          <p:cNvSpPr/>
          <p:nvPr/>
        </p:nvSpPr>
        <p:spPr>
          <a:xfrm>
            <a:off x="6291000" y="1389960"/>
            <a:ext cx="18284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300" spc="-1" strike="noStrike">
                <a:solidFill>
                  <a:srgbClr val="184d44"/>
                </a:solidFill>
                <a:latin typeface="Aptos Display"/>
                <a:ea typeface="Aptos Display"/>
              </a:rPr>
              <a:t>0.9046</a:t>
            </a:r>
            <a:endParaRPr b="0" lang="en-US" sz="3300" spc="-1" strike="noStrike">
              <a:latin typeface="Arial"/>
            </a:endParaRPr>
          </a:p>
        </p:txBody>
      </p:sp>
      <p:sp>
        <p:nvSpPr>
          <p:cNvPr id="132" name="Text 11"/>
          <p:cNvSpPr/>
          <p:nvPr/>
        </p:nvSpPr>
        <p:spPr>
          <a:xfrm>
            <a:off x="6291000" y="1956960"/>
            <a:ext cx="18284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333333"/>
                </a:solidFill>
                <a:latin typeface="Aptos"/>
              </a:rPr>
              <a:t>mAP50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133" name="Text 12"/>
          <p:cNvSpPr/>
          <p:nvPr/>
        </p:nvSpPr>
        <p:spPr>
          <a:xfrm>
            <a:off x="8183880" y="1389960"/>
            <a:ext cx="20113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300" spc="-1" strike="noStrike">
                <a:solidFill>
                  <a:srgbClr val="e51b2b"/>
                </a:solidFill>
                <a:latin typeface="Aptos Display"/>
                <a:ea typeface="Aptos Display"/>
              </a:rPr>
              <a:t>0.5378</a:t>
            </a:r>
            <a:endParaRPr b="0" lang="en-US" sz="3300" spc="-1" strike="noStrike">
              <a:latin typeface="Arial"/>
            </a:endParaRPr>
          </a:p>
        </p:txBody>
      </p:sp>
      <p:sp>
        <p:nvSpPr>
          <p:cNvPr id="134" name="Text 13"/>
          <p:cNvSpPr/>
          <p:nvPr/>
        </p:nvSpPr>
        <p:spPr>
          <a:xfrm>
            <a:off x="8183880" y="1956960"/>
            <a:ext cx="2011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333333"/>
                </a:solidFill>
                <a:latin typeface="Aptos"/>
              </a:rPr>
              <a:t>mAP50-95</a:t>
            </a:r>
            <a:endParaRPr b="0" lang="en-US" sz="1250" spc="-1" strike="noStrike">
              <a:latin typeface="Arial"/>
            </a:endParaRPr>
          </a:p>
        </p:txBody>
      </p:sp>
      <p:pic>
        <p:nvPicPr>
          <p:cNvPr id="135" name="Image 1" descr="/mnt/data/mardi_assets/selected_perclass.png"/>
          <p:cNvPicPr/>
          <p:nvPr/>
        </p:nvPicPr>
        <p:blipFill>
          <a:blip r:embed="rId2"/>
          <a:stretch/>
        </p:blipFill>
        <p:spPr>
          <a:xfrm>
            <a:off x="985680" y="2770560"/>
            <a:ext cx="5379840" cy="2788560"/>
          </a:xfrm>
          <a:prstGeom prst="rect">
            <a:avLst/>
          </a:prstGeom>
          <a:ln w="0">
            <a:noFill/>
          </a:ln>
        </p:spPr>
      </p:pic>
      <p:sp>
        <p:nvSpPr>
          <p:cNvPr id="136" name="Text 14"/>
          <p:cNvSpPr/>
          <p:nvPr/>
        </p:nvSpPr>
        <p:spPr>
          <a:xfrm>
            <a:off x="6903720" y="290772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 fontScale="99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100" spc="-1" strike="noStrike">
                <a:solidFill>
                  <a:srgbClr val="e51b2b"/>
                </a:solidFill>
                <a:latin typeface="Aptos"/>
                <a:ea typeface="Aptos"/>
              </a:rPr>
              <a:t>Per-class takeaway</a:t>
            </a:r>
            <a:endParaRPr b="0" lang="en-US" sz="2100" spc="-1" strike="noStrike">
              <a:latin typeface="Arial"/>
            </a:endParaRPr>
          </a:p>
        </p:txBody>
      </p:sp>
      <p:sp>
        <p:nvSpPr>
          <p:cNvPr id="137" name="Text 15"/>
          <p:cNvSpPr/>
          <p:nvPr/>
        </p:nvSpPr>
        <p:spPr>
          <a:xfrm>
            <a:off x="6931080" y="3401640"/>
            <a:ext cx="448020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333333"/>
                </a:solidFill>
                <a:latin typeface="Aptos"/>
              </a:rPr>
              <a:t>• </a:t>
            </a:r>
            <a:r>
              <a:rPr b="0" lang="en-US" sz="1500" spc="-1" strike="noStrike">
                <a:solidFill>
                  <a:srgbClr val="333333"/>
                </a:solidFill>
                <a:latin typeface="Aptos"/>
              </a:rPr>
              <a:t>ok_plant is strongest across precision, recall, and F1.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333333"/>
                </a:solidFill>
                <a:latin typeface="Aptos"/>
              </a:rPr>
              <a:t>• </a:t>
            </a:r>
            <a:r>
              <a:rPr b="0" lang="en-US" sz="1500" spc="-1" strike="noStrike">
                <a:solidFill>
                  <a:srgbClr val="333333"/>
                </a:solidFill>
                <a:latin typeface="Aptos"/>
              </a:rPr>
              <a:t>no_plant has the lowest AP50-95 and should receive focused error review.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333333"/>
                </a:solidFill>
                <a:latin typeface="Aptos"/>
              </a:rPr>
              <a:t>• </a:t>
            </a:r>
            <a:r>
              <a:rPr b="0" lang="en-US" sz="1500" spc="-1" strike="noStrike">
                <a:solidFill>
                  <a:srgbClr val="333333"/>
                </a:solidFill>
                <a:latin typeface="Aptos"/>
              </a:rPr>
              <a:t>flat_plant remains stable but should be tested under field lighting and occlusion.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38" name="Text 16"/>
          <p:cNvSpPr/>
          <p:nvPr/>
        </p:nvSpPr>
        <p:spPr>
          <a:xfrm>
            <a:off x="6931080" y="5074920"/>
            <a:ext cx="4205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 fontScale="78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16473f"/>
                </a:solidFill>
                <a:latin typeface="Aptos"/>
                <a:ea typeface="Aptos"/>
              </a:rPr>
              <a:t>Recommendation: deploy RF-DETR Nano into model testing first, then compare on the same untouched field test set.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Image 0" descr="/mnt/data/mardi_assets/bg_content_clean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  <p:sp>
        <p:nvSpPr>
          <p:cNvPr id="140" name="Text 0"/>
          <p:cNvSpPr/>
          <p:nvPr/>
        </p:nvSpPr>
        <p:spPr>
          <a:xfrm>
            <a:off x="438840" y="109800"/>
            <a:ext cx="3017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780" spc="-1" strike="noStrike">
                <a:solidFill>
                  <a:srgbClr val="e51b2b"/>
                </a:solidFill>
                <a:latin typeface="Aptos"/>
                <a:ea typeface="Aptos"/>
              </a:rPr>
              <a:t>MARDI PINEAPPLE DETECTION AI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141" name="Text 1"/>
          <p:cNvSpPr/>
          <p:nvPr/>
        </p:nvSpPr>
        <p:spPr>
          <a:xfrm>
            <a:off x="11292840" y="650124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50" spc="-1" strike="noStrike">
                <a:solidFill>
                  <a:srgbClr val="a0a0a0"/>
                </a:solidFill>
                <a:latin typeface="Aptos"/>
              </a:rPr>
              <a:t>‹</a:t>
            </a:r>
            <a:r>
              <a:rPr b="0" lang="en-US" sz="750" spc="-1" strike="noStrike">
                <a:solidFill>
                  <a:srgbClr val="a0a0a0"/>
                </a:solidFill>
                <a:latin typeface="Aptos"/>
              </a:rPr>
              <a:t>9›</a:t>
            </a:r>
            <a:endParaRPr b="0" lang="en-US" sz="750" spc="-1" strike="noStrike">
              <a:latin typeface="Arial"/>
            </a:endParaRPr>
          </a:p>
        </p:txBody>
      </p:sp>
      <p:sp>
        <p:nvSpPr>
          <p:cNvPr id="142" name="Text 2"/>
          <p:cNvSpPr/>
          <p:nvPr/>
        </p:nvSpPr>
        <p:spPr>
          <a:xfrm>
            <a:off x="530280" y="502920"/>
            <a:ext cx="89607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e51b2b"/>
                </a:solidFill>
                <a:latin typeface="Aptos Display"/>
                <a:ea typeface="Aptos Display"/>
              </a:rPr>
              <a:t>Dataset Quality &amp; Training Notes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143" name="Text 3"/>
          <p:cNvSpPr/>
          <p:nvPr/>
        </p:nvSpPr>
        <p:spPr>
          <a:xfrm>
            <a:off x="548640" y="969120"/>
            <a:ext cx="8960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50" spc="-1" strike="noStrike">
                <a:solidFill>
                  <a:srgbClr val="333333"/>
                </a:solidFill>
                <a:latin typeface="Aptos"/>
              </a:rPr>
              <a:t>The report shows no missing label files and no identified label/data warnings.</a:t>
            </a:r>
            <a:endParaRPr b="0" lang="en-US" sz="1350" spc="-1" strike="noStrike">
              <a:latin typeface="Arial"/>
            </a:endParaRPr>
          </a:p>
        </p:txBody>
      </p:sp>
      <p:pic>
        <p:nvPicPr>
          <p:cNvPr id="144" name="Image 1" descr="/mnt/data/mardi_assets/roc_curve.png"/>
          <p:cNvPicPr/>
          <p:nvPr/>
        </p:nvPicPr>
        <p:blipFill>
          <a:blip r:embed="rId2"/>
          <a:stretch/>
        </p:blipFill>
        <p:spPr>
          <a:xfrm>
            <a:off x="749880" y="1419840"/>
            <a:ext cx="5440320" cy="3149640"/>
          </a:xfrm>
          <a:prstGeom prst="rect">
            <a:avLst/>
          </a:prstGeom>
          <a:ln w="0">
            <a:noFill/>
          </a:ln>
        </p:spPr>
      </p:pic>
      <p:sp>
        <p:nvSpPr>
          <p:cNvPr id="145" name="Text 4"/>
          <p:cNvSpPr/>
          <p:nvPr/>
        </p:nvSpPr>
        <p:spPr>
          <a:xfrm>
            <a:off x="804600" y="4709160"/>
            <a:ext cx="5211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777777"/>
                </a:solidFill>
                <a:latin typeface="Aptos"/>
                <a:ea typeface="Aptos"/>
              </a:rPr>
              <a:t>YOLOv8 validation ROC-AUC reference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46" name="Text 5"/>
          <p:cNvSpPr/>
          <p:nvPr/>
        </p:nvSpPr>
        <p:spPr>
          <a:xfrm>
            <a:off x="6720840" y="1444680"/>
            <a:ext cx="3474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 fontScale="95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e51b2b"/>
                </a:solidFill>
                <a:latin typeface="Aptos"/>
                <a:ea typeface="Aptos"/>
              </a:rPr>
              <a:t>Quality status</a:t>
            </a:r>
            <a:endParaRPr b="0" lang="en-US" sz="2200" spc="-1" strike="noStrike">
              <a:latin typeface="Arial"/>
            </a:endParaRPr>
          </a:p>
        </p:txBody>
      </p:sp>
      <p:pic>
        <p:nvPicPr>
          <p:cNvPr id="147" name="Image 2" descr="/mnt/data/mardi_assets/quality_table.png"/>
          <p:cNvPicPr/>
          <p:nvPr/>
        </p:nvPicPr>
        <p:blipFill>
          <a:blip r:embed="rId3"/>
          <a:stretch/>
        </p:blipFill>
        <p:spPr>
          <a:xfrm>
            <a:off x="6748200" y="2261160"/>
            <a:ext cx="4251600" cy="1146240"/>
          </a:xfrm>
          <a:prstGeom prst="rect">
            <a:avLst/>
          </a:prstGeom>
          <a:ln w="0">
            <a:noFill/>
          </a:ln>
        </p:spPr>
      </p:pic>
      <p:sp>
        <p:nvSpPr>
          <p:cNvPr id="148" name="Text 6"/>
          <p:cNvSpPr/>
          <p:nvPr/>
        </p:nvSpPr>
        <p:spPr>
          <a:xfrm>
            <a:off x="6784920" y="4316040"/>
            <a:ext cx="40687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 fontScale="78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50" spc="-1" strike="noStrike">
                <a:solidFill>
                  <a:srgbClr val="16473f"/>
                </a:solidFill>
                <a:latin typeface="Aptos"/>
                <a:ea typeface="Aptos"/>
              </a:rPr>
              <a:t>Focus error analysis on classes and environments where validation-to-field shift is expected: occlusion, soil brightness, plant overlap, motion blur, and changing camera height.</a:t>
            </a:r>
            <a:endParaRPr b="0" lang="en-US" sz="14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Image 0" descr="/mnt/data/mardi_assets/bg_content_clean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  <p:sp>
        <p:nvSpPr>
          <p:cNvPr id="150" name="Text 0"/>
          <p:cNvSpPr/>
          <p:nvPr/>
        </p:nvSpPr>
        <p:spPr>
          <a:xfrm>
            <a:off x="438840" y="109800"/>
            <a:ext cx="3017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780" spc="-1" strike="noStrike">
                <a:solidFill>
                  <a:srgbClr val="e51b2b"/>
                </a:solidFill>
                <a:latin typeface="Aptos"/>
                <a:ea typeface="Aptos"/>
              </a:rPr>
              <a:t>MARDI PINEAPPLE DETECTION AI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151" name="Text 1"/>
          <p:cNvSpPr/>
          <p:nvPr/>
        </p:nvSpPr>
        <p:spPr>
          <a:xfrm>
            <a:off x="11292840" y="650124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50" spc="-1" strike="noStrike">
                <a:solidFill>
                  <a:srgbClr val="a0a0a0"/>
                </a:solidFill>
                <a:latin typeface="Aptos"/>
              </a:rPr>
              <a:t>‹</a:t>
            </a:r>
            <a:r>
              <a:rPr b="0" lang="en-US" sz="750" spc="-1" strike="noStrike">
                <a:solidFill>
                  <a:srgbClr val="a0a0a0"/>
                </a:solidFill>
                <a:latin typeface="Aptos"/>
              </a:rPr>
              <a:t>10›</a:t>
            </a:r>
            <a:endParaRPr b="0" lang="en-US" sz="750" spc="-1" strike="noStrike">
              <a:latin typeface="Arial"/>
            </a:endParaRPr>
          </a:p>
        </p:txBody>
      </p:sp>
      <p:sp>
        <p:nvSpPr>
          <p:cNvPr id="152" name="Text 2"/>
          <p:cNvSpPr/>
          <p:nvPr/>
        </p:nvSpPr>
        <p:spPr>
          <a:xfrm>
            <a:off x="530280" y="502920"/>
            <a:ext cx="89607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e51b2b"/>
                </a:solidFill>
                <a:latin typeface="Aptos Display"/>
                <a:ea typeface="Aptos Display"/>
              </a:rPr>
              <a:t>Qualitative Detection Results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153" name="Text 3"/>
          <p:cNvSpPr/>
          <p:nvPr/>
        </p:nvSpPr>
        <p:spPr>
          <a:xfrm>
            <a:off x="548640" y="969120"/>
            <a:ext cx="8960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50" spc="-1" strike="noStrike">
                <a:solidFill>
                  <a:srgbClr val="333333"/>
                </a:solidFill>
                <a:latin typeface="Aptos"/>
              </a:rPr>
              <a:t>Prediction examples show dense multi-class detections in plantation imagery.</a:t>
            </a:r>
            <a:endParaRPr b="0" lang="en-US" sz="1350" spc="-1" strike="noStrike">
              <a:latin typeface="Arial"/>
            </a:endParaRPr>
          </a:p>
        </p:txBody>
      </p:sp>
      <p:pic>
        <p:nvPicPr>
          <p:cNvPr id="154" name="Image 1" descr="/mnt/data/mardi_assets/qual_val_batch0_pred.png"/>
          <p:cNvPicPr/>
          <p:nvPr/>
        </p:nvPicPr>
        <p:blipFill>
          <a:blip r:embed="rId2"/>
          <a:srcRect l="11684" t="0" r="11684" b="0"/>
          <a:stretch/>
        </p:blipFill>
        <p:spPr>
          <a:xfrm>
            <a:off x="685800" y="1389960"/>
            <a:ext cx="3364560" cy="4251600"/>
          </a:xfrm>
          <a:prstGeom prst="rect">
            <a:avLst/>
          </a:prstGeom>
          <a:ln w="0">
            <a:noFill/>
          </a:ln>
        </p:spPr>
      </p:pic>
      <p:pic>
        <p:nvPicPr>
          <p:cNvPr id="155" name="Image 2" descr="/mnt/data/mardi_assets/qual_val_batch1_pred.png"/>
          <p:cNvPicPr/>
          <p:nvPr/>
        </p:nvPicPr>
        <p:blipFill>
          <a:blip r:embed="rId3"/>
          <a:srcRect l="11684" t="0" r="11684" b="0"/>
          <a:stretch/>
        </p:blipFill>
        <p:spPr>
          <a:xfrm>
            <a:off x="4407480" y="1389960"/>
            <a:ext cx="3364560" cy="4251600"/>
          </a:xfrm>
          <a:prstGeom prst="rect">
            <a:avLst/>
          </a:prstGeom>
          <a:ln w="0">
            <a:noFill/>
          </a:ln>
        </p:spPr>
      </p:pic>
      <p:pic>
        <p:nvPicPr>
          <p:cNvPr id="156" name="Image 3" descr="/mnt/data/mardi_assets/qual_val_batch0_labels.png"/>
          <p:cNvPicPr/>
          <p:nvPr/>
        </p:nvPicPr>
        <p:blipFill>
          <a:blip r:embed="rId4"/>
          <a:srcRect l="11057" t="0" r="11057" b="0"/>
          <a:stretch/>
        </p:blipFill>
        <p:spPr>
          <a:xfrm>
            <a:off x="8119800" y="1389960"/>
            <a:ext cx="3364560" cy="4251600"/>
          </a:xfrm>
          <a:prstGeom prst="rect">
            <a:avLst/>
          </a:prstGeom>
          <a:ln w="0">
            <a:noFill/>
          </a:ln>
        </p:spPr>
      </p:pic>
      <p:sp>
        <p:nvSpPr>
          <p:cNvPr id="157" name="Text 4"/>
          <p:cNvSpPr/>
          <p:nvPr/>
        </p:nvSpPr>
        <p:spPr>
          <a:xfrm>
            <a:off x="960120" y="5742360"/>
            <a:ext cx="2468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e51b2b"/>
                </a:solidFill>
                <a:latin typeface="Aptos"/>
              </a:rPr>
              <a:t>Prediction: val_batch0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158" name="Text 5"/>
          <p:cNvSpPr/>
          <p:nvPr/>
        </p:nvSpPr>
        <p:spPr>
          <a:xfrm>
            <a:off x="4709160" y="5742360"/>
            <a:ext cx="2468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e51b2b"/>
                </a:solidFill>
                <a:latin typeface="Aptos"/>
              </a:rPr>
              <a:t>Prediction: val_batch1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159" name="Text 6"/>
          <p:cNvSpPr/>
          <p:nvPr/>
        </p:nvSpPr>
        <p:spPr>
          <a:xfrm>
            <a:off x="8458200" y="5742360"/>
            <a:ext cx="2468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e51b2b"/>
                </a:solidFill>
                <a:latin typeface="Aptos"/>
              </a:rPr>
              <a:t>Ground-truth labels</a:t>
            </a:r>
            <a:endParaRPr b="0" lang="en-US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Image 0" descr="/mnt/data/mardi_assets/bg_content_clean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  <p:sp>
        <p:nvSpPr>
          <p:cNvPr id="161" name="Text 0"/>
          <p:cNvSpPr/>
          <p:nvPr/>
        </p:nvSpPr>
        <p:spPr>
          <a:xfrm>
            <a:off x="438840" y="109800"/>
            <a:ext cx="3017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780" spc="-1" strike="noStrike">
                <a:solidFill>
                  <a:srgbClr val="e51b2b"/>
                </a:solidFill>
                <a:latin typeface="Aptos"/>
                <a:ea typeface="Aptos"/>
              </a:rPr>
              <a:t>MARDI PINEAPPLE DETECTION AI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162" name="Text 1"/>
          <p:cNvSpPr/>
          <p:nvPr/>
        </p:nvSpPr>
        <p:spPr>
          <a:xfrm>
            <a:off x="11292840" y="650124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50" spc="-1" strike="noStrike">
                <a:solidFill>
                  <a:srgbClr val="a0a0a0"/>
                </a:solidFill>
                <a:latin typeface="Aptos"/>
              </a:rPr>
              <a:t>‹</a:t>
            </a:r>
            <a:r>
              <a:rPr b="0" lang="en-US" sz="750" spc="-1" strike="noStrike">
                <a:solidFill>
                  <a:srgbClr val="a0a0a0"/>
                </a:solidFill>
                <a:latin typeface="Aptos"/>
              </a:rPr>
              <a:t>11›</a:t>
            </a:r>
            <a:endParaRPr b="0" lang="en-US" sz="750" spc="-1" strike="noStrike">
              <a:latin typeface="Arial"/>
            </a:endParaRPr>
          </a:p>
        </p:txBody>
      </p:sp>
      <p:sp>
        <p:nvSpPr>
          <p:cNvPr id="163" name="Text 2"/>
          <p:cNvSpPr/>
          <p:nvPr/>
        </p:nvSpPr>
        <p:spPr>
          <a:xfrm>
            <a:off x="530280" y="502920"/>
            <a:ext cx="89607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e51b2b"/>
                </a:solidFill>
                <a:latin typeface="Aptos Display"/>
                <a:ea typeface="Aptos Display"/>
              </a:rPr>
              <a:t>Risks &amp; Validation Guidance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164" name="Text 3"/>
          <p:cNvSpPr/>
          <p:nvPr/>
        </p:nvSpPr>
        <p:spPr>
          <a:xfrm>
            <a:off x="548640" y="969120"/>
            <a:ext cx="8960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50" spc="-1" strike="noStrike">
                <a:solidFill>
                  <a:srgbClr val="333333"/>
                </a:solidFill>
                <a:latin typeface="Aptos"/>
              </a:rPr>
              <a:t>Model selection should be finalized after controlled field testing on target hardware.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165" name="Text 4"/>
          <p:cNvSpPr/>
          <p:nvPr/>
        </p:nvSpPr>
        <p:spPr>
          <a:xfrm>
            <a:off x="777240" y="1444680"/>
            <a:ext cx="4388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 fontScale="96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100" spc="-1" strike="noStrike">
                <a:solidFill>
                  <a:srgbClr val="e51b2b"/>
                </a:solidFill>
                <a:latin typeface="Aptos"/>
                <a:ea typeface="Aptos"/>
              </a:rPr>
              <a:t>Do not mix evaluation sources</a:t>
            </a:r>
            <a:endParaRPr b="0" lang="en-US" sz="2100" spc="-1" strike="noStrike">
              <a:latin typeface="Arial"/>
            </a:endParaRPr>
          </a:p>
        </p:txBody>
      </p:sp>
      <p:sp>
        <p:nvSpPr>
          <p:cNvPr id="166" name="Text 5"/>
          <p:cNvSpPr/>
          <p:nvPr/>
        </p:nvSpPr>
        <p:spPr>
          <a:xfrm>
            <a:off x="804600" y="1874520"/>
            <a:ext cx="498312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 fontScale="91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16473f"/>
                </a:solidFill>
                <a:latin typeface="Aptos"/>
                <a:ea typeface="Aptos"/>
              </a:rPr>
              <a:t>Validation and independent-test results are useful for direction, but they are not strictly interchangeable. The report recommends evaluating every candidate on the same untouched test set and target hardware.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67" name="Text 6"/>
          <p:cNvSpPr/>
          <p:nvPr/>
        </p:nvSpPr>
        <p:spPr>
          <a:xfrm>
            <a:off x="777240" y="3273480"/>
            <a:ext cx="4388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 fontScale="99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100" spc="-1" strike="noStrike">
                <a:solidFill>
                  <a:srgbClr val="e51b2b"/>
                </a:solidFill>
                <a:latin typeface="Aptos"/>
                <a:ea typeface="Aptos"/>
              </a:rPr>
              <a:t>Review possible overfitting</a:t>
            </a:r>
            <a:endParaRPr b="0" lang="en-US" sz="2100" spc="-1" strike="noStrike">
              <a:latin typeface="Arial"/>
            </a:endParaRPr>
          </a:p>
        </p:txBody>
      </p:sp>
      <p:sp>
        <p:nvSpPr>
          <p:cNvPr id="168" name="Text 7"/>
          <p:cNvSpPr/>
          <p:nvPr/>
        </p:nvSpPr>
        <p:spPr>
          <a:xfrm>
            <a:off x="804600" y="3703320"/>
            <a:ext cx="49831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 fontScale="94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16473f"/>
                </a:solidFill>
                <a:latin typeface="Aptos"/>
                <a:ea typeface="Aptos"/>
              </a:rPr>
              <a:t>For Phase 2 RF-DETR Nano, validation loss is materially higher than training loss, so possible overfitting should be reviewed before deployment.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69" name="Text 8"/>
          <p:cNvSpPr/>
          <p:nvPr/>
        </p:nvSpPr>
        <p:spPr>
          <a:xfrm>
            <a:off x="6537960" y="1444680"/>
            <a:ext cx="4388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 fontScale="83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100" spc="-1" strike="noStrike">
                <a:solidFill>
                  <a:srgbClr val="e51b2b"/>
                </a:solidFill>
                <a:latin typeface="Aptos"/>
                <a:ea typeface="Aptos"/>
              </a:rPr>
              <a:t>Recommended validation checklist</a:t>
            </a:r>
            <a:endParaRPr b="0" lang="en-US" sz="2100" spc="-1" strike="noStrike">
              <a:latin typeface="Arial"/>
            </a:endParaRPr>
          </a:p>
        </p:txBody>
      </p:sp>
      <p:sp>
        <p:nvSpPr>
          <p:cNvPr id="170" name="Text 9"/>
          <p:cNvSpPr/>
          <p:nvPr/>
        </p:nvSpPr>
        <p:spPr>
          <a:xfrm>
            <a:off x="6565320" y="1901880"/>
            <a:ext cx="438876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 fontScale="92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333333"/>
                </a:solidFill>
                <a:latin typeface="Aptos"/>
              </a:rPr>
              <a:t>• </a:t>
            </a:r>
            <a:r>
              <a:rPr b="0" lang="en-US" sz="1500" spc="-1" strike="noStrike">
                <a:solidFill>
                  <a:srgbClr val="333333"/>
                </a:solidFill>
                <a:latin typeface="Aptos"/>
              </a:rPr>
              <a:t>Run model testing with saved prediction artifacts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333333"/>
                </a:solidFill>
                <a:latin typeface="Aptos"/>
              </a:rPr>
              <a:t>• </a:t>
            </a:r>
            <a:r>
              <a:rPr b="0" lang="en-US" sz="1500" spc="-1" strike="noStrike">
                <a:solidFill>
                  <a:srgbClr val="333333"/>
                </a:solidFill>
                <a:latin typeface="Aptos"/>
              </a:rPr>
              <a:t>Benchmark FPS and memory on target compute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333333"/>
                </a:solidFill>
                <a:latin typeface="Aptos"/>
              </a:rPr>
              <a:t>• </a:t>
            </a:r>
            <a:r>
              <a:rPr b="0" lang="en-US" sz="1500" spc="-1" strike="noStrike">
                <a:solidFill>
                  <a:srgbClr val="333333"/>
                </a:solidFill>
                <a:latin typeface="Aptos"/>
              </a:rPr>
              <a:t>Check failure cases: no_plant, occlusion, soil background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333333"/>
                </a:solidFill>
                <a:latin typeface="Aptos"/>
              </a:rPr>
              <a:t>• </a:t>
            </a:r>
            <a:r>
              <a:rPr b="0" lang="en-US" sz="1500" spc="-1" strike="noStrike">
                <a:solidFill>
                  <a:srgbClr val="333333"/>
                </a:solidFill>
                <a:latin typeface="Aptos"/>
              </a:rPr>
              <a:t>Confirm confidence thresholds for automated reporting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333333"/>
                </a:solidFill>
                <a:latin typeface="Aptos"/>
              </a:rPr>
              <a:t>• </a:t>
            </a:r>
            <a:r>
              <a:rPr b="0" lang="en-US" sz="1500" spc="-1" strike="noStrike">
                <a:solidFill>
                  <a:srgbClr val="333333"/>
                </a:solidFill>
                <a:latin typeface="Aptos"/>
              </a:rPr>
              <a:t>Monitor field performance against validation baseline</a:t>
            </a:r>
            <a:endParaRPr b="0" lang="en-US" sz="1500" spc="-1" strike="noStrike">
              <a:latin typeface="Arial"/>
            </a:endParaRPr>
          </a:p>
        </p:txBody>
      </p:sp>
      <p:pic>
        <p:nvPicPr>
          <p:cNvPr id="171" name="Image 1" descr="/mnt/data/mardi_assets/confusion_norm.png"/>
          <p:cNvPicPr/>
          <p:nvPr/>
        </p:nvPicPr>
        <p:blipFill>
          <a:blip r:embed="rId2"/>
          <a:stretch/>
        </p:blipFill>
        <p:spPr>
          <a:xfrm>
            <a:off x="7170480" y="4316040"/>
            <a:ext cx="1706400" cy="1645560"/>
          </a:xfrm>
          <a:prstGeom prst="rect">
            <a:avLst/>
          </a:prstGeom>
          <a:ln w="0">
            <a:noFill/>
          </a:ln>
        </p:spPr>
      </p:pic>
      <p:sp>
        <p:nvSpPr>
          <p:cNvPr id="172" name="Text 10"/>
          <p:cNvSpPr/>
          <p:nvPr/>
        </p:nvSpPr>
        <p:spPr>
          <a:xfrm>
            <a:off x="9555480" y="4956120"/>
            <a:ext cx="18284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777777"/>
                </a:solidFill>
                <a:latin typeface="Aptos"/>
              </a:rPr>
              <a:t>Confusion-matrix based error review</a:t>
            </a:r>
            <a:endParaRPr b="0" lang="en-US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Image 0" descr="/mnt/data/mardi_assets/bg_content_clean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  <p:sp>
        <p:nvSpPr>
          <p:cNvPr id="174" name="Text 0"/>
          <p:cNvSpPr/>
          <p:nvPr/>
        </p:nvSpPr>
        <p:spPr>
          <a:xfrm>
            <a:off x="438840" y="109800"/>
            <a:ext cx="3017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780" spc="-1" strike="noStrike">
                <a:solidFill>
                  <a:srgbClr val="e51b2b"/>
                </a:solidFill>
                <a:latin typeface="Aptos"/>
                <a:ea typeface="Aptos"/>
              </a:rPr>
              <a:t>MARDI PINEAPPLE DETECTION AI</a:t>
            </a:r>
            <a:endParaRPr b="0" lang="en-US" sz="780" spc="-1" strike="noStrike">
              <a:latin typeface="Arial"/>
            </a:endParaRPr>
          </a:p>
        </p:txBody>
      </p:sp>
      <p:sp>
        <p:nvSpPr>
          <p:cNvPr id="175" name="Text 1"/>
          <p:cNvSpPr/>
          <p:nvPr/>
        </p:nvSpPr>
        <p:spPr>
          <a:xfrm>
            <a:off x="11292840" y="650124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750" spc="-1" strike="noStrike">
                <a:solidFill>
                  <a:srgbClr val="a0a0a0"/>
                </a:solidFill>
                <a:latin typeface="Aptos"/>
              </a:rPr>
              <a:t>‹</a:t>
            </a:r>
            <a:r>
              <a:rPr b="0" lang="en-US" sz="750" spc="-1" strike="noStrike">
                <a:solidFill>
                  <a:srgbClr val="a0a0a0"/>
                </a:solidFill>
                <a:latin typeface="Aptos"/>
              </a:rPr>
              <a:t>12›</a:t>
            </a:r>
            <a:endParaRPr b="0" lang="en-US" sz="750" spc="-1" strike="noStrike">
              <a:latin typeface="Arial"/>
            </a:endParaRPr>
          </a:p>
        </p:txBody>
      </p:sp>
      <p:sp>
        <p:nvSpPr>
          <p:cNvPr id="176" name="Text 2"/>
          <p:cNvSpPr/>
          <p:nvPr/>
        </p:nvSpPr>
        <p:spPr>
          <a:xfrm>
            <a:off x="530280" y="502920"/>
            <a:ext cx="89607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e51b2b"/>
                </a:solidFill>
                <a:latin typeface="Aptos Display"/>
                <a:ea typeface="Aptos Display"/>
              </a:rPr>
              <a:t>Next Deployment Plan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177" name="Text 3"/>
          <p:cNvSpPr/>
          <p:nvPr/>
        </p:nvSpPr>
        <p:spPr>
          <a:xfrm>
            <a:off x="548640" y="969120"/>
            <a:ext cx="8960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50" spc="-1" strike="noStrike">
                <a:solidFill>
                  <a:srgbClr val="333333"/>
                </a:solidFill>
                <a:latin typeface="Aptos"/>
              </a:rPr>
              <a:t>Move from training report to controlled plantation validation.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178" name="Text 4"/>
          <p:cNvSpPr/>
          <p:nvPr/>
        </p:nvSpPr>
        <p:spPr>
          <a:xfrm>
            <a:off x="777240" y="1426320"/>
            <a:ext cx="5025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700" spc="-1" strike="noStrike">
                <a:solidFill>
                  <a:srgbClr val="e51b2b"/>
                </a:solidFill>
                <a:latin typeface="Aptos"/>
              </a:rPr>
              <a:t>01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179" name="Text 5"/>
          <p:cNvSpPr/>
          <p:nvPr/>
        </p:nvSpPr>
        <p:spPr>
          <a:xfrm>
            <a:off x="1325880" y="1426320"/>
            <a:ext cx="228564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700" spc="-1" strike="noStrike">
                <a:solidFill>
                  <a:srgbClr val="16473f"/>
                </a:solidFill>
                <a:latin typeface="Aptos"/>
              </a:rPr>
              <a:t>Prepare test set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180" name="Text 6"/>
          <p:cNvSpPr/>
          <p:nvPr/>
        </p:nvSpPr>
        <p:spPr>
          <a:xfrm>
            <a:off x="4160520" y="1444680"/>
            <a:ext cx="6309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333333"/>
                </a:solidFill>
                <a:latin typeface="Aptos"/>
              </a:rPr>
              <a:t>Freeze one untouched test set for all final candidates.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81" name="Text 7"/>
          <p:cNvSpPr/>
          <p:nvPr/>
        </p:nvSpPr>
        <p:spPr>
          <a:xfrm>
            <a:off x="777240" y="2176200"/>
            <a:ext cx="5025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700" spc="-1" strike="noStrike">
                <a:solidFill>
                  <a:srgbClr val="e51b2b"/>
                </a:solidFill>
                <a:latin typeface="Aptos"/>
              </a:rPr>
              <a:t>02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182" name="Text 8"/>
          <p:cNvSpPr/>
          <p:nvPr/>
        </p:nvSpPr>
        <p:spPr>
          <a:xfrm>
            <a:off x="1325880" y="2176200"/>
            <a:ext cx="228564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700" spc="-1" strike="noStrike">
                <a:solidFill>
                  <a:srgbClr val="16473f"/>
                </a:solidFill>
                <a:latin typeface="Aptos"/>
              </a:rPr>
              <a:t>Run model testing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183" name="Text 9"/>
          <p:cNvSpPr/>
          <p:nvPr/>
        </p:nvSpPr>
        <p:spPr>
          <a:xfrm>
            <a:off x="4160520" y="2194560"/>
            <a:ext cx="6309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82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333333"/>
                </a:solidFill>
                <a:latin typeface="Aptos"/>
              </a:rPr>
              <a:t>Generate prediction artifacts, confusion matrices, and per-class error cases.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84" name="Text 10"/>
          <p:cNvSpPr/>
          <p:nvPr/>
        </p:nvSpPr>
        <p:spPr>
          <a:xfrm>
            <a:off x="777240" y="2926080"/>
            <a:ext cx="5025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700" spc="-1" strike="noStrike">
                <a:solidFill>
                  <a:srgbClr val="e51b2b"/>
                </a:solidFill>
                <a:latin typeface="Aptos"/>
              </a:rPr>
              <a:t>03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185" name="Text 11"/>
          <p:cNvSpPr/>
          <p:nvPr/>
        </p:nvSpPr>
        <p:spPr>
          <a:xfrm>
            <a:off x="1325880" y="2926080"/>
            <a:ext cx="228564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700" spc="-1" strike="noStrike">
                <a:solidFill>
                  <a:srgbClr val="16473f"/>
                </a:solidFill>
                <a:latin typeface="Aptos"/>
              </a:rPr>
              <a:t>Hardware benchmark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186" name="Text 12"/>
          <p:cNvSpPr/>
          <p:nvPr/>
        </p:nvSpPr>
        <p:spPr>
          <a:xfrm>
            <a:off x="4160520" y="2944440"/>
            <a:ext cx="6309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333333"/>
                </a:solidFill>
                <a:latin typeface="Aptos"/>
              </a:rPr>
              <a:t>Measure FPS, latency, VRAM/RAM, and robustness on target compute.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87" name="Text 13"/>
          <p:cNvSpPr/>
          <p:nvPr/>
        </p:nvSpPr>
        <p:spPr>
          <a:xfrm>
            <a:off x="777240" y="3675960"/>
            <a:ext cx="5025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700" spc="-1" strike="noStrike">
                <a:solidFill>
                  <a:srgbClr val="e51b2b"/>
                </a:solidFill>
                <a:latin typeface="Aptos"/>
              </a:rPr>
              <a:t>04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188" name="Text 14"/>
          <p:cNvSpPr/>
          <p:nvPr/>
        </p:nvSpPr>
        <p:spPr>
          <a:xfrm>
            <a:off x="1325880" y="3675960"/>
            <a:ext cx="228564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700" spc="-1" strike="noStrike">
                <a:solidFill>
                  <a:srgbClr val="16473f"/>
                </a:solidFill>
                <a:latin typeface="Aptos"/>
              </a:rPr>
              <a:t>Field validation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189" name="Text 15"/>
          <p:cNvSpPr/>
          <p:nvPr/>
        </p:nvSpPr>
        <p:spPr>
          <a:xfrm>
            <a:off x="4160520" y="3694320"/>
            <a:ext cx="6309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82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333333"/>
                </a:solidFill>
                <a:latin typeface="Aptos"/>
              </a:rPr>
              <a:t>Test under real plantation lighting, motion, occlusion, and camera height.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90" name="Text 16"/>
          <p:cNvSpPr/>
          <p:nvPr/>
        </p:nvSpPr>
        <p:spPr>
          <a:xfrm>
            <a:off x="777240" y="4425840"/>
            <a:ext cx="5025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700" spc="-1" strike="noStrike">
                <a:solidFill>
                  <a:srgbClr val="e51b2b"/>
                </a:solidFill>
                <a:latin typeface="Aptos"/>
              </a:rPr>
              <a:t>05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191" name="Text 17"/>
          <p:cNvSpPr/>
          <p:nvPr/>
        </p:nvSpPr>
        <p:spPr>
          <a:xfrm>
            <a:off x="1325880" y="4425840"/>
            <a:ext cx="228564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700" spc="-1" strike="noStrike">
                <a:solidFill>
                  <a:srgbClr val="16473f"/>
                </a:solidFill>
                <a:latin typeface="Aptos"/>
              </a:rPr>
              <a:t>Deployment tuning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192" name="Text 18"/>
          <p:cNvSpPr/>
          <p:nvPr/>
        </p:nvSpPr>
        <p:spPr>
          <a:xfrm>
            <a:off x="4160520" y="4443840"/>
            <a:ext cx="6309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333333"/>
                </a:solidFill>
                <a:latin typeface="Aptos"/>
              </a:rPr>
              <a:t>Set confidence thresholds, reporting logic, and monitoring baseline.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93" name="Text 19"/>
          <p:cNvSpPr/>
          <p:nvPr/>
        </p:nvSpPr>
        <p:spPr>
          <a:xfrm>
            <a:off x="777240" y="5532120"/>
            <a:ext cx="1828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 fontScale="93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e51b2b"/>
                </a:solidFill>
                <a:latin typeface="Aptos"/>
                <a:ea typeface="Aptos"/>
              </a:rPr>
              <a:t>Decision gate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94" name="Text 20"/>
          <p:cNvSpPr/>
          <p:nvPr/>
        </p:nvSpPr>
        <p:spPr>
          <a:xfrm>
            <a:off x="2971800" y="5559480"/>
            <a:ext cx="74062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 fontScale="73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50" spc="-1" strike="noStrike">
                <a:solidFill>
                  <a:srgbClr val="16473f"/>
                </a:solidFill>
                <a:latin typeface="Aptos"/>
                <a:ea typeface="Aptos"/>
              </a:rPr>
              <a:t>Proceed to pilot deployment only if RF-DETR Nano maintains field accuracy while meeting compute, latency, and reporting requirements.</a:t>
            </a:r>
            <a:endParaRPr b="0" lang="en-US" sz="14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Image 0" descr="/mnt/data/mardi_assets/bg_thanks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LibreOffice/7.3.7.2$Linux_X86_64 LibreOffice_project/30$Build-2</Application>
  <AppVersion>15.0000</AppVersion>
  <Words>0</Words>
  <Paragraphs>0</Paragraphs>
  <Company>Meraque Group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2026-08-13T03:41:35Z</dcterms:created>
  <dc:creator>OpenAI</dc:creator>
  <dc:description/>
  <dc:language>en-US</dc:language>
  <cp:lastModifiedBy/>
  <dcterms:modified xsi:type="dcterms:W3CDTF">2026-08-13T11:46:08Z</dcterms:modified>
  <cp:revision>2</cp:revision>
  <dc:subject>MARDI Pineapple Detection AI model training report</dc:subject>
  <dc:title>MARDI PINEAPPLE DETECTION AI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13</vt:i4>
  </property>
  <property fmtid="{D5CDD505-2E9C-101B-9397-08002B2CF9AE}" pid="3" name="PresentationFormat">
    <vt:lpwstr>On-screen Show (16:9)</vt:lpwstr>
  </property>
  <property fmtid="{D5CDD505-2E9C-101B-9397-08002B2CF9AE}" pid="4" name="Slides">
    <vt:i4>13</vt:i4>
  </property>
</Properties>
</file>