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D84"/>
                </a:solidFill>
                <a:latin typeface="Consolas"/>
              </a:rPr>
              <a:t>MARDI_TECH · ONBOARD SENSOR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onsola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D1F1D"/>
                </a:solidFill>
                <a:latin typeface="Calibri"/>
              </a:rPr>
              <a:t>Sensor Fusion &amp; Bed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C6058"/>
                </a:solidFill>
                <a:latin typeface="Calibri"/>
              </a:rPr>
              <a:t>Three ROS 2 services running on a Jetson Orin Nano turn a serial GNSS receiver, a BLE IMU, and a USB camera into a live, GPS-aware detection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0060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4E2D3"/>
          </a:solidFill>
          <a:ln w="9525">
            <a:solidFill>
              <a:srgbClr val="C85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50" b="1">
                <a:solidFill>
                  <a:srgbClr val="C8540F"/>
                </a:solidFill>
                <a:latin typeface="Consolas"/>
              </a:rPr>
              <a:t>ROS 2 Humble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4800600"/>
            <a:ext cx="1124712" cy="365760"/>
          </a:xfrm>
          <a:prstGeom prst="roundRect">
            <a:avLst>
              <a:gd name="adj" fmla="val 50000"/>
            </a:avLst>
          </a:prstGeom>
          <a:solidFill>
            <a:srgbClr val="F4E2D3"/>
          </a:solidFill>
          <a:ln w="9525">
            <a:solidFill>
              <a:srgbClr val="C85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50" b="1">
                <a:solidFill>
                  <a:srgbClr val="C8540F"/>
                </a:solidFill>
                <a:latin typeface="Consolas"/>
              </a:rPr>
              <a:t>TensorRT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21024" y="4800600"/>
            <a:ext cx="1728216" cy="365760"/>
          </a:xfrm>
          <a:prstGeom prst="roundRect">
            <a:avLst>
              <a:gd name="adj" fmla="val 50000"/>
            </a:avLst>
          </a:prstGeom>
          <a:solidFill>
            <a:srgbClr val="F4E2D3"/>
          </a:solidFill>
          <a:ln w="9525">
            <a:solidFill>
              <a:srgbClr val="C85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50" b="1">
                <a:solidFill>
                  <a:srgbClr val="C8540F"/>
                </a:solidFill>
                <a:latin typeface="Consola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2" y="4800600"/>
            <a:ext cx="1929384" cy="365760"/>
          </a:xfrm>
          <a:prstGeom prst="roundRect">
            <a:avLst>
              <a:gd name="adj" fmla="val 50000"/>
            </a:avLst>
          </a:prstGeom>
          <a:solidFill>
            <a:srgbClr val="F4E2D3"/>
          </a:solidFill>
          <a:ln w="9525">
            <a:solidFill>
              <a:srgbClr val="C85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50" b="1">
                <a:solidFill>
                  <a:srgbClr val="C8540F"/>
                </a:solidFill>
                <a:latin typeface="Consolas"/>
              </a:rPr>
              <a:t>Jetson Orin Nano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3200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D84"/>
                </a:solidFill>
                <a:latin typeface="Consolas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onsolas"/>
              </a:rPr>
              <a:t>THE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1F1D"/>
                </a:solidFill>
                <a:latin typeface="Calibri"/>
              </a:rPr>
              <a:t>Raw sensors to a live dashboard, in three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246120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20823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8540F"/>
                </a:solidFill>
                <a:latin typeface="Consolas"/>
              </a:rPr>
              <a:t>SERVICE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31719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1F1D"/>
                </a:solidFill>
                <a:latin typeface="Calibri"/>
              </a:rPr>
              <a:t>sensor_data_raw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43199"/>
            <a:ext cx="284378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058"/>
                </a:solidFill>
                <a:latin typeface="Calibri"/>
              </a:rPr>
              <a:t>Serial GNSS receiver + BLE IMU. Publishes raw position fixes and orientation data onto ROS topics.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857499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C8540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246120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20823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8540F"/>
                </a:solidFill>
                <a:latin typeface="Consolas"/>
              </a:rPr>
              <a:t>SERVICE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31719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1F1D"/>
                </a:solidFill>
                <a:latin typeface="Calibri"/>
              </a:rPr>
              <a:t>imu_gnss_raw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43199"/>
            <a:ext cx="284378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058"/>
                </a:solidFill>
                <a:latin typeface="Calibri"/>
              </a:rPr>
              <a:t>15-state error-state Kalman filter fuses GNSS + IMU into a smooth position, heading, and forward/backward motion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857499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C8540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74519"/>
            <a:ext cx="3246120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020823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8540F"/>
                </a:solidFill>
                <a:latin typeface="Consolas"/>
              </a:rPr>
              <a:t>SERVICE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331719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D1F1D"/>
                </a:solidFill>
                <a:latin typeface="Calibri"/>
              </a:rPr>
              <a:t>yolov8-trt-bed-detect-orin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743199"/>
            <a:ext cx="284378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058"/>
                </a:solidFill>
                <a:latin typeface="Calibri"/>
              </a:rPr>
              <a:t>TensorRT camera detection, gated and geotagged by the fused motion state. Serves the web dashboard.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C6058"/>
                </a:solidFill>
                <a:latin typeface="Calibri"/>
              </a:rPr>
              <a:t>All three talk only over ROS 2 topics on the loopback DDS domain — no direct API coupling between containers.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3200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D84"/>
                </a:solidFill>
                <a:latin typeface="Consolas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onsolas"/>
              </a:rPr>
              <a:t>SERVICE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1F1D"/>
                </a:solidFill>
                <a:latin typeface="Calibri"/>
              </a:rPr>
              <a:t>sensor_data_raw — the raw feed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C6058"/>
                </a:solidFill>
                <a:latin typeface="Calibri"/>
              </a:rPr>
              <a:t>Two nodes bridge physical hardware onto ROS topics: a serial JSON reader for the GNSS receiver, and a BLE driver for the IMU.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8540F"/>
                </a:solidFill>
                <a:latin typeface="Consolas"/>
              </a:rPr>
              <a:t>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832104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C8540F"/>
                </a:solidFill>
                <a:latin typeface="Consolas"/>
              </a:rPr>
              <a:t>/gnss/pvt  </a:t>
            </a:r>
            <a:r>
              <a:rPr sz="1050">
                <a:solidFill>
                  <a:srgbClr val="8A8D84"/>
                </a:solidFill>
                <a:latin typeface="Consolas"/>
              </a:rPr>
              <a:t>— std_msgs/String, raw PVT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8540F"/>
                </a:solidFill>
                <a:latin typeface="Consolas"/>
              </a:rPr>
              <a:t>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862072"/>
            <a:ext cx="832104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C8540F"/>
                </a:solidFill>
                <a:latin typeface="Consolas"/>
              </a:rPr>
              <a:t>/receiver/fix  </a:t>
            </a:r>
            <a:r>
              <a:rPr sz="1050">
                <a:solidFill>
                  <a:srgbClr val="8A8D84"/>
                </a:solidFill>
                <a:latin typeface="Consolas"/>
              </a:rPr>
              <a:t>— sensor_msgs/NavSatFix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92424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8540F"/>
                </a:solidFill>
                <a:latin typeface="Consolas"/>
              </a:rPr>
              <a:t>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392424"/>
            <a:ext cx="832104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C8540F"/>
                </a:solidFill>
                <a:latin typeface="Consolas"/>
              </a:rPr>
              <a:t>/imu/data_raw → /imu/data  </a:t>
            </a:r>
            <a:r>
              <a:rPr sz="1050">
                <a:solidFill>
                  <a:srgbClr val="8A8D84"/>
                </a:solidFill>
                <a:latin typeface="Consolas"/>
              </a:rPr>
              <a:t>— sensor_msgs/Imu, via complementary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058400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058"/>
                </a:solidFill>
                <a:latin typeface="Calibri"/>
              </a:rPr>
              <a:t>The GNSS receiver is pinned to a fixed device path (/dev/gnss_rtk) via a udev rule keyed to its physical USB port — so USB enumeration order can never swap it silently.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3200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D84"/>
                </a:solidFill>
                <a:latin typeface="Consolas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onsolas"/>
              </a:rPr>
              <a:t>SERVICE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1F1D"/>
                </a:solidFill>
                <a:latin typeface="Calibri"/>
              </a:rPr>
              <a:t>imu_gnss_raw — the fusion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C6058"/>
                </a:solidFill>
                <a:latin typeface="Calibri"/>
              </a:rPr>
              <a:t>A single node, gnss_imu_eskf_node, runs a 15-state error-state Kalman filter — position, velocity, orientation, and both IMU biases.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059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8540F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2084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058"/>
                </a:solidFill>
                <a:latin typeface="Calibri"/>
              </a:rPr>
              <a:t>Filter states tracked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2377440"/>
            <a:ext cx="245059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254203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8540F"/>
                </a:solidFill>
                <a:latin typeface="Calibri"/>
              </a:rPr>
              <a:t>~100Hz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3246120"/>
            <a:ext cx="2084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058"/>
                </a:solidFill>
                <a:latin typeface="Calibri"/>
              </a:rPr>
              <a:t>IMU strapdown prediction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2377440"/>
            <a:ext cx="245059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254203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8540F"/>
                </a:solidFill>
                <a:latin typeface="Calibri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3246120"/>
            <a:ext cx="2084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058"/>
                </a:solidFill>
                <a:latin typeface="Calibri"/>
              </a:rPr>
              <a:t>Stationary samples for bias init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85632" y="2377440"/>
            <a:ext cx="2450592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254203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8540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3246120"/>
            <a:ext cx="2084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058"/>
                </a:solidFill>
                <a:latin typeface="Calibri"/>
              </a:rPr>
              <a:t>Motion states: idle / forward / backward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C6058"/>
                </a:solidFill>
                <a:latin typeface="Calibri"/>
              </a:rPr>
              <a:t>Publishes both a fused estimate and a raw-GNSS-only estimate side by side — useful for validating the filter against ground truth in the field.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3200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D84"/>
                </a:solidFill>
                <a:latin typeface="Consolas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onsolas"/>
              </a:rPr>
              <a:t>SERVICE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D1F1D"/>
                </a:solidFill>
                <a:latin typeface="Calibri"/>
              </a:rPr>
              <a:t>yolov8-trt-bed-detect-orin — detection +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8540F"/>
                </a:solidFill>
                <a:latin typeface="Consolas"/>
              </a:rPr>
              <a:t>DETECTION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830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8540F"/>
                </a:solidFill>
                <a:latin typeface="Consolas"/>
              </a:rPr>
              <a:t>WEB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1F1D"/>
                </a:solidFill>
                <a:latin typeface="Calibri"/>
              </a:rPr>
              <a:t>TensorRT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946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058"/>
                </a:solidFill>
                <a:latin typeface="Calibri"/>
              </a:rPr>
              <a:t>YOLOv8 engine, GPU or CPU NMS, on-Jetson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5468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1F1D"/>
                </a:solidFill>
                <a:latin typeface="Calibri"/>
              </a:rPr>
              <a:t>MOSSE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8386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058"/>
                </a:solidFill>
                <a:latin typeface="Calibri"/>
              </a:rPr>
              <a:t>Optional cumulative unique-object counting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6908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1F1D"/>
                </a:solidFill>
                <a:latin typeface="Calibri"/>
              </a:rPr>
              <a:t>Started on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9826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058"/>
                </a:solidFill>
                <a:latin typeface="Calibri"/>
              </a:rPr>
              <a:t>Not running by default — the dashboard starts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402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4028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1F1D"/>
                </a:solidFill>
                <a:latin typeface="Calibri"/>
              </a:rPr>
              <a:t>Live counts &amp; MJPEG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6946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058"/>
                </a:solidFill>
                <a:latin typeface="Calibri"/>
              </a:rPr>
              <a:t>Real-time view at :8090 and :8080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1546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5468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1F1D"/>
                </a:solidFill>
                <a:latin typeface="Calibri"/>
              </a:rPr>
              <a:t>GNSS-gated auto-save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8386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058"/>
                </a:solidFill>
                <a:latin typeface="Calibri"/>
              </a:rPr>
              <a:t>Saves only while moving forward, past a distance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690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06908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1F1D"/>
                </a:solidFill>
                <a:latin typeface="Calibri"/>
              </a:rPr>
              <a:t>Model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9826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058"/>
                </a:solidFill>
                <a:latin typeface="Calibri"/>
              </a:rPr>
              <a:t>Upload, convert, and hot-swap engines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3200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D84"/>
                </a:solidFill>
                <a:latin typeface="Consolas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onsolas"/>
              </a:rPr>
              <a:t>CLOSING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F1D"/>
                </a:solidFill>
                <a:latin typeface="Calibri"/>
              </a:rPr>
              <a:t>The dashboard talks back to the fusion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C6058"/>
                </a:solidFill>
                <a:latin typeface="Calibri"/>
              </a:rPr>
              <a:t>The detection service doesn't just consume position data — it can retune the fusion filter live from the browser.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8540F"/>
                </a:solidFill>
                <a:latin typeface="Consolas"/>
              </a:rPr>
              <a:t>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987552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C8540F"/>
                </a:solidFill>
                <a:latin typeface="Consolas"/>
              </a:rPr>
              <a:t>GNSS_FIX_TOPIC = /receiver/fix  </a:t>
            </a:r>
            <a:r>
              <a:rPr sz="1050">
                <a:solidFill>
                  <a:srgbClr val="8A8D84"/>
                </a:solidFill>
                <a:latin typeface="Consolas"/>
              </a:rPr>
              <a:t>— dashboard lat/lon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52928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8540F"/>
                </a:solidFill>
                <a:latin typeface="Consolas"/>
              </a:rPr>
              <a:t>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852928"/>
            <a:ext cx="987552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C8540F"/>
                </a:solidFill>
                <a:latin typeface="Consolas"/>
              </a:rPr>
              <a:t>MOTION_STATE_TOPIC = /gnss_imu_eskf/motion_state_raw_gnss  </a:t>
            </a:r>
            <a:r>
              <a:rPr sz="1050">
                <a:solidFill>
                  <a:srgbClr val="8A8D84"/>
                </a:solidFill>
                <a:latin typeface="Consolas"/>
              </a:rPr>
              <a:t>—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19856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8540F"/>
                </a:solidFill>
                <a:latin typeface="Consolas"/>
              </a:rPr>
              <a:t>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419856"/>
            <a:ext cx="987552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C8540F"/>
                </a:solidFill>
                <a:latin typeface="Consolas"/>
              </a:rPr>
              <a:t>GNSS_ONLY_ODOM_TOPIC = /gnss_imu_eskf/gnss_only_odom  </a:t>
            </a:r>
            <a:r>
              <a:rPr sz="1050">
                <a:solidFill>
                  <a:srgbClr val="8A8D84"/>
                </a:solidFill>
                <a:latin typeface="Consolas"/>
              </a:rPr>
              <a:t>— auto-save distance gating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86784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8540F"/>
                </a:solidFill>
                <a:latin typeface="Consola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986784"/>
            <a:ext cx="987552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50" b="1">
                <a:solidFill>
                  <a:srgbClr val="C8540F"/>
                </a:solidFill>
                <a:latin typeface="Consolas"/>
              </a:rPr>
              <a:t>MOTION_POS_DEADBAND_TOPIC = /gnss_imu_eskf/motion_pos_deadband  </a:t>
            </a:r>
            <a:r>
              <a:rPr sz="1050">
                <a:solidFill>
                  <a:srgbClr val="8A8D84"/>
                </a:solidFill>
                <a:latin typeface="Consolas"/>
              </a:rPr>
              <a:t>— dashboard writes 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3200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D84"/>
                </a:solidFill>
                <a:latin typeface="Consolas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onsolas"/>
              </a:rPr>
              <a:t>API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1F1D"/>
                </a:solidFill>
                <a:latin typeface="Calibri"/>
              </a:rPr>
              <a:t>32 endpoints across 7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C6058"/>
                </a:solidFill>
                <a:latin typeface="Calibri"/>
              </a:rPr>
              <a:t>REST + WebSocket, covering live state, detection control, model lifecycle, saved-image management, and system 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82880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GET /api/status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2286000"/>
            <a:ext cx="182880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POST /api/start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173736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POST /api/stop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286000"/>
            <a:ext cx="219456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POST /api/auto_save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310896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POST /api/motion_pos_deadband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2788920"/>
            <a:ext cx="182880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GET /api/models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788920"/>
            <a:ext cx="310896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POST /api/models/build_engine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292608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POST /api/deserialize/model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291840"/>
            <a:ext cx="182880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GET /api/report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291840"/>
            <a:ext cx="265176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GET /api/images/download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291840"/>
            <a:ext cx="100584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WS /ws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2103120" cy="384048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>
                <a:solidFill>
                  <a:srgbClr val="1D1F1D"/>
                </a:solidFill>
                <a:latin typeface="Consolas"/>
              </a:rPr>
              <a:t>POST /api/shutdown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058"/>
                </a:solidFill>
                <a:latin typeface="Calibri"/>
              </a:rPr>
              <a:t>Full method / route / body reference lives in the API Reference document.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3200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D84"/>
                </a:solidFill>
                <a:latin typeface="Consolas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onsolas"/>
              </a:rPr>
              <a:t>WORTH KNOWING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F1D"/>
                </a:solidFill>
                <a:latin typeface="Calibri"/>
              </a:rPr>
              <a:t>Documented drift between code and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C6058"/>
                </a:solidFill>
                <a:latin typeface="Calibri"/>
              </a:rPr>
              <a:t>Research for this documentation surfaced a few real discrepancies worth resolving, not just typos.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120640" cy="160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C85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96312"/>
            <a:ext cx="4718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D1F1D"/>
                </a:solidFill>
                <a:latin typeface="Calibri"/>
              </a:rPr>
              <a:t>Engine path swap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98648"/>
            <a:ext cx="47183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058"/>
                </a:solidFill>
                <a:latin typeface="Calibri"/>
              </a:rPr>
              <a:t>The aarch64-mounted config defaults to the x86 engine file path — worth confirming which engine actually loads on the Orin.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331720"/>
            <a:ext cx="5120640" cy="160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C85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2496312"/>
            <a:ext cx="4718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D1F1D"/>
                </a:solidFill>
                <a:latin typeface="Calibri"/>
              </a:rPr>
              <a:t>Undeclared filter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898648"/>
            <a:ext cx="47183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058"/>
                </a:solidFill>
                <a:latin typeface="Calibri"/>
              </a:rPr>
              <a:t>Several tuning values in the ESKF's YAML aren't wired into the node's code and are silently ignored.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5120640" cy="160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C85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370832"/>
            <a:ext cx="4718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D1F1D"/>
                </a:solidFill>
                <a:latin typeface="Calibri"/>
              </a:rPr>
              <a:t>Stale IMU package README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773168"/>
            <a:ext cx="47183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058"/>
                </a:solidFill>
                <a:latin typeface="Calibri"/>
              </a:rPr>
              <a:t>Describes an older architecture with topic names that no longer match the deployed launch graph.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206240"/>
            <a:ext cx="5120640" cy="160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C85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4370832"/>
            <a:ext cx="4718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D1F1D"/>
                </a:solidFill>
                <a:latin typeface="Calibri"/>
              </a:rPr>
              <a:t>Hardware mismatch in README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4773168"/>
            <a:ext cx="47183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058"/>
                </a:solidFill>
                <a:latin typeface="Calibri"/>
              </a:rPr>
              <a:t>Detection package prerequisites describe Jetson Nano; the actual build targets Jetson Orin Nano.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3200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D84"/>
                </a:solidFill>
                <a:latin typeface="Consolas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540F"/>
                </a:solidFill>
                <a:latin typeface="Consolas"/>
              </a:rPr>
              <a:t>READ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D1F1D"/>
                </a:solidFill>
                <a:latin typeface="Calibri"/>
              </a:rPr>
              <a:t>Full documentation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058"/>
                </a:solidFill>
                <a:latin typeface="Calibri"/>
              </a:rPr>
              <a:t>This deck is the overview. For hands-on use and implementation detail, go to: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9966960" cy="777240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8540F"/>
                </a:solidFill>
                <a:latin typeface="Consolas"/>
              </a:rPr>
              <a:t>User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78608"/>
            <a:ext cx="7040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058"/>
                </a:solidFill>
                <a:latin typeface="Calibri"/>
              </a:rPr>
              <a:t>Starting the system, dashboard walkthrough, troubleshooting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9966960" cy="777240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3872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8540F"/>
                </a:solidFill>
                <a:latin typeface="Consolas"/>
              </a:rPr>
              <a:t>Developer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38728"/>
            <a:ext cx="7040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058"/>
                </a:solidFill>
                <a:latin typeface="Calibri"/>
              </a:rPr>
              <a:t>Full topic/parameter tables, architecture, known 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80"/>
            <a:ext cx="9966960" cy="777240"/>
          </a:xfrm>
          <a:prstGeom prst="roundRect">
            <a:avLst>
              <a:gd name="adj" fmla="val 4500"/>
            </a:avLst>
          </a:prstGeom>
          <a:solidFill>
            <a:srgbClr val="EFECE1"/>
          </a:solidFill>
          <a:ln w="9525">
            <a:solidFill>
              <a:srgbClr val="DE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9884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8540F"/>
                </a:solidFill>
                <a:latin typeface="Consolas"/>
              </a:rPr>
              <a:t>API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98848"/>
            <a:ext cx="7040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058"/>
                </a:solidFill>
                <a:latin typeface="Calibri"/>
              </a:rPr>
              <a:t>Every HTTP + WebSocket endpoint, request/response shapes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3200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D84"/>
                </a:solidFill>
                <a:latin typeface="Consolas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